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87ec1a0-2f1b-4094-a21c-ffc843128d79}">
          <p14:sldIdLst>
            <p14:sldId id="256"/>
          </p14:sldIdLst>
        </p14:section>
        <p14:section name="Problem and persona" id="{2ef62596-4489-6954-5349-bfb0446b9a90}">
          <p14:sldIdLst>
            <p14:sldId id="257"/>
            <p14:sldId id="258"/>
          </p14:sldIdLst>
        </p14:section>
        <p14:section name="The concept" id="{e42ae6ed-4ad4-9945-043b-52b0a0a74db2}">
          <p14:sldIdLst>
            <p14:sldId id="259"/>
            <p14:sldId id="260"/>
            <p14:sldId id="261"/>
            <p14:sldId id="262"/>
            <p14:sldId id="263"/>
          </p14:sldIdLst>
        </p14:section>
        <p14:section name="Why it works" id="{9e36d5a3-8b57-7a8f-1fd6-164e92cdc812}">
          <p14:sldIdLst>
            <p14:sldId id="264"/>
            <p14:sldId id="265"/>
          </p14:sldIdLst>
        </p14:section>
        <p14:section name="Reflection" id="{b48f37cb-25ec-2e8e-337d-15ef8a465c29}">
          <p14:sldIdLst>
            <p14:sldId id="266"/>
            <p14:sldId id="267"/>
          </p14:sldIdLst>
        </p14:section>
        <p14:section name="Close" id="{27c81952-e239-e384-5bf3-d5aa789f4691}">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there! I'm Spud. We're Group 14, Team Sweet Potatoes, and this is HearHere: a street post that helps international residents understand and answer local council decisions. Spud stands for Street Post for Understanding Decisions. HearHere. Your street, your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Melbourne's councils make decisions about parks, housing and transport. Our fieldwork with eight international residents found the barrier isn't a lack of interest. People can't find relevant information. Translated policies still use terms they don't understand. And they don't know where their feedback goes. Meanwhile, council news arrives by mail and flyers, but newer residents live on Instagram.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Jason. He's 34, has lived in Melbourne for eight years, and English isn't his first language. He's unhappy about a new park rule for dogs, yet he doesn't know who to tell, or which words to use. The park rule is a fictional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post has four parts: Spud, the mascot you talk to; a touchscreen listing nearby issues; an NFC pad that hands the issue to your phone; and a pillar showing verified council and community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Saturday, 8 a.m. Jason walks his dog past a HearHere post. The screen under Spud lists nearby issues by distance, including a new rule for the park next door. Jason taps the park issue. A plain-language summary appears in his own language, with difficult terms explained. Now he simply talks to Spud, in his own language. Spud turns it into a clear English comment, names the responsible department, and lets Jason edit before sending. No audio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is in Traditional Chinese for Jason. He taps "Talk to Spud", says what he thinks in Mandarin, and Spud structures it into an English comment addressed to Parks and Open Space. He can edit it before confirming. No audio is stored on the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Jason taps his phone on the NFC pad. The issue and his comment move to the HearHere app, and the post keeps nothing. Tracking begins only because Jason chose it. The app shows each stage: Received, In review, then an outcome with a case number, or reasons if declined. Notifications keep him updated. Each new HearHere post Jason visits also earns a badge: a small reward for taking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it all fit together? Spud's official social media account shares only verified council posts, reaching residents where they already scroll. An AI agent answers questions from official documents and hands over to a named contact when unsure, and the HearHere app tracks each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feature responds to one of the eight requirements from our fieldwork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Jason, that means relevant issues on his route, in his own language, a clear department to hear him, and visible progress. All without attending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HearHere has limits. Speaking in public may feel exposing, AI can mistranslate, and our fieldwork did not include council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we'll test a low-fidelity prototype with residents across languages, and check whether they trust and correct the AI's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HearHere, with Spud: the Street Post for Understanding Decisions. Speak here. Be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8A8398"/>
                </a:solidFill>
              </a:rPr>
              <a:t>HearHere · Team Sweet Potatoes · Group 14 · INFO90006</a:t>
            </a:r>
            <a:endParaRPr lang="en-US" sz="10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LAC">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8A8398"/>
                </a:solidFill>
              </a:rPr>
              <a:t>HearHere · Team Sweet Potatoes · Group 14 · INFO90006</a:t>
            </a:r>
            <a:endParaRPr lang="en-US" sz="10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4.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6766560" cy="365760"/>
          </a:xfrm>
          <a:prstGeom prst="rect">
            <a:avLst/>
          </a:prstGeom>
          <a:noFill/>
          <a:ln/>
        </p:spPr>
        <p:txBody>
          <a:bodyPr wrap="square" lIns="0" tIns="0" rIns="0" bIns="0" rtlCol="0" anchor="t"/>
          <a:lstStyle/>
          <a:p>
            <a:pPr indent="0" marL="0">
              <a:buNone/>
            </a:pPr>
            <a:r>
              <a:rPr lang="en-US" sz="1300" b="1" spc="200" kern="0" dirty="0">
                <a:solidFill>
                  <a:srgbClr val="F28C28"/>
                </a:solidFill>
              </a:rPr>
              <a:t>TEAM SWEET POTATOES · GROUP 14 · INFO90006 FIELDWORK FOR DESIGN</a:t>
            </a:r>
            <a:endParaRPr lang="en-US" sz="1300" dirty="0"/>
          </a:p>
        </p:txBody>
      </p:sp>
      <p:sp>
        <p:nvSpPr>
          <p:cNvPr id="3" name="Text 1"/>
          <p:cNvSpPr txBox="1"/>
          <p:nvPr/>
        </p:nvSpPr>
        <p:spPr>
          <a:xfrm>
            <a:off x="731520" y="1600200"/>
            <a:ext cx="6766560" cy="1371600"/>
          </a:xfrm>
          <a:prstGeom prst="rect">
            <a:avLst/>
          </a:prstGeom>
          <a:noFill/>
          <a:ln/>
        </p:spPr>
        <p:txBody>
          <a:bodyPr wrap="square" lIns="0" tIns="0" rIns="0" bIns="0" rtlCol="0" anchor="ctr"/>
          <a:lstStyle/>
          <a:p>
            <a:pPr indent="0" marL="0">
              <a:buNone/>
            </a:pPr>
            <a:r>
              <a:rPr lang="en-US" sz="8800" b="1" dirty="0">
                <a:solidFill>
                  <a:schemeClr val="bg1"/>
                </a:solidFill>
              </a:rPr>
              <a:t>Hear</a:t>
            </a:r>
            <a:pPr indent="0" marL="0">
              <a:buNone/>
            </a:pPr>
            <a:r>
              <a:rPr lang="en-US" sz="8800" b="1" dirty="0">
                <a:solidFill>
                  <a:srgbClr val="F28C28"/>
                </a:solidFill>
              </a:rPr>
              <a:t>Here</a:t>
            </a:r>
            <a:endParaRPr lang="en-US" sz="8800" dirty="0"/>
          </a:p>
        </p:txBody>
      </p:sp>
      <p:sp>
        <p:nvSpPr>
          <p:cNvPr id="4" name="Text 2"/>
          <p:cNvSpPr txBox="1"/>
          <p:nvPr/>
        </p:nvSpPr>
        <p:spPr>
          <a:xfrm>
            <a:off x="731520" y="3063240"/>
            <a:ext cx="6035040" cy="914400"/>
          </a:xfrm>
          <a:prstGeom prst="rect">
            <a:avLst/>
          </a:prstGeom>
          <a:noFill/>
          <a:ln/>
        </p:spPr>
        <p:txBody>
          <a:bodyPr wrap="square" lIns="0" tIns="0" rIns="0" bIns="0" rtlCol="0" anchor="t"/>
          <a:lstStyle/>
          <a:p>
            <a:pPr indent="0" marL="0">
              <a:buNone/>
            </a:pPr>
            <a:r>
              <a:rPr lang="en-US" sz="2200" dirty="0">
                <a:solidFill>
                  <a:srgbClr val="E9E1F2"/>
                </a:solidFill>
              </a:rPr>
              <a:t>A street post that helps international residents understand and answer local council decisions</a:t>
            </a:r>
            <a:endParaRPr lang="en-US" sz="2200" dirty="0"/>
          </a:p>
        </p:txBody>
      </p:sp>
      <p:sp>
        <p:nvSpPr>
          <p:cNvPr id="5" name="tagline pill"/>
          <p:cNvSpPr/>
          <p:nvPr/>
        </p:nvSpPr>
        <p:spPr>
          <a:xfrm>
            <a:off x="731520" y="4206240"/>
            <a:ext cx="3840480" cy="566928"/>
          </a:xfrm>
          <a:prstGeom prst="roundRect">
            <a:avLst>
              <a:gd name="adj" fmla="val 50000"/>
            </a:avLst>
          </a:prstGeom>
          <a:solidFill>
            <a:srgbClr val="F28C28"/>
          </a:solidFill>
          <a:ln w="12700">
            <a:solidFill>
              <a:srgbClr val="F28C28"/>
            </a:solidFill>
            <a:prstDash val="solid"/>
          </a:ln>
        </p:spPr>
      </p:sp>
      <p:sp>
        <p:nvSpPr>
          <p:cNvPr id="6" name="Text 4"/>
          <p:cNvSpPr txBox="1"/>
          <p:nvPr/>
        </p:nvSpPr>
        <p:spPr>
          <a:xfrm>
            <a:off x="731520" y="4206240"/>
            <a:ext cx="3840480" cy="566928"/>
          </a:xfrm>
          <a:prstGeom prst="rect">
            <a:avLst/>
          </a:prstGeom>
          <a:noFill/>
          <a:ln/>
        </p:spPr>
        <p:txBody>
          <a:bodyPr wrap="square" lIns="0" tIns="0" rIns="0" bIns="0" rtlCol="0" anchor="ctr"/>
          <a:lstStyle/>
          <a:p>
            <a:pPr algn="ctr" indent="0" marL="0">
              <a:buNone/>
            </a:pPr>
            <a:r>
              <a:rPr lang="en-US" sz="2200" b="1" dirty="0">
                <a:solidFill>
                  <a:schemeClr val="bg1"/>
                </a:solidFill>
              </a:rPr>
              <a:t>Your street, your say.</a:t>
            </a:r>
            <a:endParaRPr lang="en-US" sz="2200" dirty="0"/>
          </a:p>
        </p:txBody>
      </p:sp>
      <p:sp>
        <p:nvSpPr>
          <p:cNvPr id="7" name="Text 5"/>
          <p:cNvSpPr txBox="1"/>
          <p:nvPr/>
        </p:nvSpPr>
        <p:spPr>
          <a:xfrm>
            <a:off x="731520" y="5074920"/>
            <a:ext cx="6583680" cy="411480"/>
          </a:xfrm>
          <a:prstGeom prst="rect">
            <a:avLst/>
          </a:prstGeom>
          <a:noFill/>
          <a:ln/>
        </p:spPr>
        <p:txBody>
          <a:bodyPr wrap="square" lIns="0" tIns="0" rIns="0" bIns="0" rtlCol="0" anchor="t"/>
          <a:lstStyle/>
          <a:p>
            <a:pPr indent="0" marL="0">
              <a:buNone/>
            </a:pPr>
            <a:r>
              <a:rPr lang="en-US" sz="1800" b="1" dirty="0">
                <a:solidFill>
                  <a:srgbClr val="F28C28"/>
                </a:solidFill>
              </a:rPr>
              <a:t>Mascot: </a:t>
            </a:r>
            <a:pPr indent="0" marL="0">
              <a:buNone/>
            </a:pPr>
            <a:r>
              <a:rPr lang="en-US" sz="1800" dirty="0">
                <a:solidFill>
                  <a:srgbClr val="E9E1F2"/>
                </a:solidFill>
              </a:rPr>
              <a:t>Spud, the </a:t>
            </a:r>
            <a:pPr indent="0" marL="0">
              <a:buNone/>
            </a:pPr>
            <a:r>
              <a:rPr lang="en-US" sz="1800" b="1" dirty="0">
                <a:solidFill>
                  <a:srgbClr val="F28C28"/>
                </a:solidFill>
              </a:rPr>
              <a:t>S</a:t>
            </a:r>
            <a:pPr indent="0" marL="0">
              <a:buNone/>
            </a:pPr>
            <a:r>
              <a:rPr lang="en-US" sz="1800" dirty="0">
                <a:solidFill>
                  <a:srgbClr val="E9E1F2"/>
                </a:solidFill>
              </a:rPr>
              <a:t>treet </a:t>
            </a:r>
            <a:pPr indent="0" marL="0">
              <a:buNone/>
            </a:pPr>
            <a:r>
              <a:rPr lang="en-US" sz="1800" b="1" dirty="0">
                <a:solidFill>
                  <a:srgbClr val="F28C28"/>
                </a:solidFill>
              </a:rPr>
              <a:t>P</a:t>
            </a:r>
            <a:pPr indent="0" marL="0">
              <a:buNone/>
            </a:pPr>
            <a:r>
              <a:rPr lang="en-US" sz="1800" dirty="0">
                <a:solidFill>
                  <a:srgbClr val="E9E1F2"/>
                </a:solidFill>
              </a:rPr>
              <a:t>ost for </a:t>
            </a:r>
            <a:pPr indent="0" marL="0">
              <a:buNone/>
            </a:pPr>
            <a:r>
              <a:rPr lang="en-US" sz="1800" b="1" dirty="0">
                <a:solidFill>
                  <a:srgbClr val="F28C28"/>
                </a:solidFill>
              </a:rPr>
              <a:t>U</a:t>
            </a:r>
            <a:pPr indent="0" marL="0">
              <a:buNone/>
            </a:pPr>
            <a:r>
              <a:rPr lang="en-US" sz="1800" dirty="0">
                <a:solidFill>
                  <a:srgbClr val="E9E1F2"/>
                </a:solidFill>
              </a:rPr>
              <a:t>nderstanding </a:t>
            </a:r>
            <a:pPr indent="0" marL="0">
              <a:buNone/>
            </a:pPr>
            <a:r>
              <a:rPr lang="en-US" sz="1800" b="1" dirty="0">
                <a:solidFill>
                  <a:srgbClr val="F28C28"/>
                </a:solidFill>
              </a:rPr>
              <a:t>D</a:t>
            </a:r>
            <a:pPr indent="0" marL="0">
              <a:buNone/>
            </a:pPr>
            <a:r>
              <a:rPr lang="en-US" sz="1800" dirty="0">
                <a:solidFill>
                  <a:srgbClr val="E9E1F2"/>
                </a:solidFill>
              </a:rPr>
              <a:t>ecisions</a:t>
            </a:r>
            <a:endParaRPr lang="en-US" sz="1800" dirty="0"/>
          </a:p>
        </p:txBody>
      </p:sp>
      <p:sp>
        <p:nvSpPr>
          <p:cNvPr id="8" name="Text 6"/>
          <p:cNvSpPr txBox="1"/>
          <p:nvPr/>
        </p:nvSpPr>
        <p:spPr>
          <a:xfrm>
            <a:off x="731520" y="5897880"/>
            <a:ext cx="6766560" cy="365760"/>
          </a:xfrm>
          <a:prstGeom prst="rect">
            <a:avLst/>
          </a:prstGeom>
          <a:noFill/>
          <a:ln/>
        </p:spPr>
        <p:txBody>
          <a:bodyPr wrap="square" lIns="0" tIns="0" rIns="0" bIns="0" rtlCol="0" anchor="t"/>
          <a:lstStyle/>
          <a:p>
            <a:pPr indent="0" marL="0">
              <a:buNone/>
            </a:pPr>
            <a:r>
              <a:rPr lang="en-US" sz="1400" dirty="0">
                <a:solidFill>
                  <a:srgbClr val="B9AECB"/>
                </a:solidFill>
              </a:rPr>
              <a:t>Jia-Ying Lee · Xintong Fu · Yu-Hao Lu · Yen-Chu Ou Yang</a:t>
            </a:r>
            <a:endParaRPr lang="en-US" sz="1400" dirty="0"/>
          </a:p>
        </p:txBody>
      </p:sp>
      <p:pic>
        <p:nvPicPr>
          <p:cNvPr id="9" name="HearHere post with Spud saying hi" descr="HearHere post with Spud saying hi">    </p:cNvPr>
          <p:cNvPicPr>
            <a:picLocks noChangeAspect="1"/>
          </p:cNvPicPr>
          <p:nvPr/>
        </p:nvPicPr>
        <p:blipFill>
          <a:blip r:embed="rId1"/>
          <a:stretch>
            <a:fillRect/>
          </a:stretch>
        </p:blipFill>
        <p:spPr>
          <a:xfrm>
            <a:off x="7589520" y="1062990"/>
            <a:ext cx="4206240" cy="47320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The barrier isn't a lack of interest</a:t>
            </a:r>
            <a:endParaRPr lang="en-US" sz="3400" dirty="0"/>
          </a:p>
        </p:txBody>
      </p:sp>
      <p:sp>
        <p:nvSpPr>
          <p:cNvPr id="3" name="Text 1"/>
          <p:cNvSpPr txBox="1"/>
          <p:nvPr/>
        </p:nvSpPr>
        <p:spPr>
          <a:xfrm>
            <a:off x="548640" y="1325880"/>
            <a:ext cx="1005840" cy="914400"/>
          </a:xfrm>
          <a:prstGeom prst="rect">
            <a:avLst/>
          </a:prstGeom>
          <a:noFill/>
          <a:ln/>
        </p:spPr>
        <p:txBody>
          <a:bodyPr wrap="square" lIns="0" tIns="0" rIns="0" bIns="0" rtlCol="0" anchor="ctr"/>
          <a:lstStyle/>
          <a:p>
            <a:pPr indent="0" marL="0">
              <a:buNone/>
            </a:pPr>
            <a:r>
              <a:rPr lang="en-US" sz="6000" b="1" dirty="0">
                <a:solidFill>
                  <a:srgbClr val="7B4B94"/>
                </a:solidFill>
              </a:rPr>
              <a:t>8</a:t>
            </a:r>
            <a:endParaRPr lang="en-US" sz="6000" dirty="0"/>
          </a:p>
        </p:txBody>
      </p:sp>
      <p:sp>
        <p:nvSpPr>
          <p:cNvPr id="4" name="Text 2"/>
          <p:cNvSpPr txBox="1"/>
          <p:nvPr/>
        </p:nvSpPr>
        <p:spPr>
          <a:xfrm>
            <a:off x="1600200" y="1463040"/>
            <a:ext cx="2468880" cy="685800"/>
          </a:xfrm>
          <a:prstGeom prst="rect">
            <a:avLst/>
          </a:prstGeom>
          <a:noFill/>
          <a:ln/>
        </p:spPr>
        <p:txBody>
          <a:bodyPr wrap="square" lIns="0" tIns="0" rIns="0" bIns="0" rtlCol="0" anchor="ctr"/>
          <a:lstStyle/>
          <a:p>
            <a:pPr indent="0" marL="0">
              <a:buNone/>
            </a:pPr>
            <a:r>
              <a:rPr lang="en-US" sz="1500" dirty="0">
                <a:solidFill>
                  <a:srgbClr val="5B5470"/>
                </a:solidFill>
              </a:rPr>
              <a:t>interviews with international residents</a:t>
            </a:r>
            <a:endParaRPr lang="en-US" sz="1500" dirty="0"/>
          </a:p>
        </p:txBody>
      </p:sp>
      <p:sp>
        <p:nvSpPr>
          <p:cNvPr id="5" name="Text 3"/>
          <p:cNvSpPr txBox="1"/>
          <p:nvPr/>
        </p:nvSpPr>
        <p:spPr>
          <a:xfrm>
            <a:off x="4297680" y="1325880"/>
            <a:ext cx="1005840" cy="914400"/>
          </a:xfrm>
          <a:prstGeom prst="rect">
            <a:avLst/>
          </a:prstGeom>
          <a:noFill/>
          <a:ln/>
        </p:spPr>
        <p:txBody>
          <a:bodyPr wrap="square" lIns="0" tIns="0" rIns="0" bIns="0" rtlCol="0" anchor="ctr"/>
          <a:lstStyle/>
          <a:p>
            <a:pPr indent="0" marL="0">
              <a:buNone/>
            </a:pPr>
            <a:r>
              <a:rPr lang="en-US" sz="6000" b="1" dirty="0">
                <a:solidFill>
                  <a:srgbClr val="7B4B94"/>
                </a:solidFill>
              </a:rPr>
              <a:t>4</a:t>
            </a:r>
            <a:endParaRPr lang="en-US" sz="6000" dirty="0"/>
          </a:p>
        </p:txBody>
      </p:sp>
      <p:sp>
        <p:nvSpPr>
          <p:cNvPr id="6" name="Text 4"/>
          <p:cNvSpPr txBox="1"/>
          <p:nvPr/>
        </p:nvSpPr>
        <p:spPr>
          <a:xfrm>
            <a:off x="5349240" y="1463040"/>
            <a:ext cx="2468880" cy="685800"/>
          </a:xfrm>
          <a:prstGeom prst="rect">
            <a:avLst/>
          </a:prstGeom>
          <a:noFill/>
          <a:ln/>
        </p:spPr>
        <p:txBody>
          <a:bodyPr wrap="square" lIns="0" tIns="0" rIns="0" bIns="0" rtlCol="0" anchor="ctr"/>
          <a:lstStyle/>
          <a:p>
            <a:pPr indent="0" marL="0">
              <a:buNone/>
            </a:pPr>
            <a:r>
              <a:rPr lang="en-US" sz="1500" dirty="0">
                <a:solidFill>
                  <a:srgbClr val="5B5470"/>
                </a:solidFill>
              </a:rPr>
              <a:t>observation sites (3 physical + council website)</a:t>
            </a:r>
            <a:endParaRPr lang="en-US" sz="1500" dirty="0"/>
          </a:p>
        </p:txBody>
      </p:sp>
      <p:sp>
        <p:nvSpPr>
          <p:cNvPr id="7" name="Text 5"/>
          <p:cNvSpPr txBox="1"/>
          <p:nvPr/>
        </p:nvSpPr>
        <p:spPr>
          <a:xfrm>
            <a:off x="8046720" y="1325880"/>
            <a:ext cx="1005840" cy="914400"/>
          </a:xfrm>
          <a:prstGeom prst="rect">
            <a:avLst/>
          </a:prstGeom>
          <a:noFill/>
          <a:ln/>
        </p:spPr>
        <p:txBody>
          <a:bodyPr wrap="square" lIns="0" tIns="0" rIns="0" bIns="0" rtlCol="0" anchor="ctr"/>
          <a:lstStyle/>
          <a:p>
            <a:pPr indent="0" marL="0">
              <a:buNone/>
            </a:pPr>
            <a:r>
              <a:rPr lang="en-US" sz="6000" b="1" dirty="0">
                <a:solidFill>
                  <a:srgbClr val="7B4B94"/>
                </a:solidFill>
              </a:rPr>
              <a:t>5</a:t>
            </a:r>
            <a:endParaRPr lang="en-US" sz="6000" dirty="0"/>
          </a:p>
        </p:txBody>
      </p:sp>
      <p:sp>
        <p:nvSpPr>
          <p:cNvPr id="8" name="Text 6"/>
          <p:cNvSpPr txBox="1"/>
          <p:nvPr/>
        </p:nvSpPr>
        <p:spPr>
          <a:xfrm>
            <a:off x="9098280" y="1463040"/>
            <a:ext cx="2468880" cy="685800"/>
          </a:xfrm>
          <a:prstGeom prst="rect">
            <a:avLst/>
          </a:prstGeom>
          <a:noFill/>
          <a:ln/>
        </p:spPr>
        <p:txBody>
          <a:bodyPr wrap="square" lIns="0" tIns="0" rIns="0" bIns="0" rtlCol="0" anchor="ctr"/>
          <a:lstStyle/>
          <a:p>
            <a:pPr indent="0" marL="0">
              <a:buNone/>
            </a:pPr>
            <a:r>
              <a:rPr lang="en-US" sz="1500" dirty="0">
                <a:solidFill>
                  <a:srgbClr val="5B5470"/>
                </a:solidFill>
              </a:rPr>
              <a:t>themes from thematic analysis</a:t>
            </a:r>
            <a:endParaRPr lang="en-US" sz="1500" dirty="0"/>
          </a:p>
        </p:txBody>
      </p:sp>
      <p:sp>
        <p:nvSpPr>
          <p:cNvPr id="9" name="barrier card 1"/>
          <p:cNvSpPr/>
          <p:nvPr/>
        </p:nvSpPr>
        <p:spPr>
          <a:xfrm>
            <a:off x="548640" y="2606040"/>
            <a:ext cx="3474720" cy="3429000"/>
          </a:xfrm>
          <a:prstGeom prst="roundRect">
            <a:avLst>
              <a:gd name="adj" fmla="val 32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0" name="barrier 1 circle"/>
          <p:cNvSpPr/>
          <p:nvPr/>
        </p:nvSpPr>
        <p:spPr>
          <a:xfrm>
            <a:off x="868680" y="2926080"/>
            <a:ext cx="685800" cy="685800"/>
          </a:xfrm>
          <a:prstGeom prst="ellipse">
            <a:avLst/>
          </a:prstGeom>
          <a:solidFill>
            <a:srgbClr val="7B4B94"/>
          </a:solidFill>
          <a:ln w="12700">
            <a:solidFill>
              <a:srgbClr val="7B4B94"/>
            </a:solidFill>
            <a:prstDash val="solid"/>
          </a:ln>
        </p:spPr>
      </p:sp>
      <p:pic>
        <p:nvPicPr>
          <p:cNvPr id="11" name="barrier 1 icon" descr="preencoded.png">    </p:cNvPr>
          <p:cNvPicPr>
            <a:picLocks noChangeAspect="1"/>
          </p:cNvPicPr>
          <p:nvPr/>
        </p:nvPicPr>
        <p:blipFill>
          <a:blip r:embed="rId1"/>
          <a:stretch>
            <a:fillRect/>
          </a:stretch>
        </p:blipFill>
        <p:spPr>
          <a:xfrm>
            <a:off x="1033272" y="3090672"/>
            <a:ext cx="356616" cy="356616"/>
          </a:xfrm>
          <a:prstGeom prst="rect">
            <a:avLst/>
          </a:prstGeom>
        </p:spPr>
      </p:pic>
      <p:sp>
        <p:nvSpPr>
          <p:cNvPr id="12" name="Text 9"/>
          <p:cNvSpPr txBox="1"/>
          <p:nvPr/>
        </p:nvSpPr>
        <p:spPr>
          <a:xfrm>
            <a:off x="868680" y="3794760"/>
            <a:ext cx="2834640" cy="457200"/>
          </a:xfrm>
          <a:prstGeom prst="rect">
            <a:avLst/>
          </a:prstGeom>
          <a:noFill/>
          <a:ln/>
        </p:spPr>
        <p:txBody>
          <a:bodyPr wrap="square" lIns="0" tIns="0" rIns="0" bIns="0" rtlCol="0" anchor="t"/>
          <a:lstStyle/>
          <a:p>
            <a:pPr indent="0" marL="0">
              <a:buNone/>
            </a:pPr>
            <a:r>
              <a:rPr lang="en-US" sz="2200" b="1" dirty="0">
                <a:solidFill>
                  <a:schemeClr val="tx2"/>
                </a:solidFill>
              </a:rPr>
              <a:t>Can't find it</a:t>
            </a:r>
            <a:endParaRPr lang="en-US" sz="2200" dirty="0"/>
          </a:p>
        </p:txBody>
      </p:sp>
      <p:sp>
        <p:nvSpPr>
          <p:cNvPr id="13" name="Text 10"/>
          <p:cNvSpPr txBox="1"/>
          <p:nvPr/>
        </p:nvSpPr>
        <p:spPr>
          <a:xfrm>
            <a:off x="868680" y="4343400"/>
            <a:ext cx="2834640" cy="1463040"/>
          </a:xfrm>
          <a:prstGeom prst="rect">
            <a:avLst/>
          </a:prstGeom>
          <a:noFill/>
          <a:ln/>
        </p:spPr>
        <p:txBody>
          <a:bodyPr wrap="square" lIns="0" tIns="0" rIns="0" bIns="0" rtlCol="0" anchor="t"/>
          <a:lstStyle/>
          <a:p>
            <a:pPr indent="0" marL="0">
              <a:buNone/>
            </a:pPr>
            <a:r>
              <a:rPr lang="en-US" sz="1500" dirty="0">
                <a:solidFill>
                  <a:schemeClr val="tx1"/>
                </a:solidFill>
              </a:rPr>
              <a:t>Relevant local issues are hard to find. Council news arrives by mail and flyers, but newer residents live on Instagram (Theme 5).</a:t>
            </a:r>
            <a:endParaRPr lang="en-US" sz="1500" dirty="0"/>
          </a:p>
        </p:txBody>
      </p:sp>
      <p:sp>
        <p:nvSpPr>
          <p:cNvPr id="14" name="barrier card 2"/>
          <p:cNvSpPr/>
          <p:nvPr/>
        </p:nvSpPr>
        <p:spPr>
          <a:xfrm>
            <a:off x="4297680" y="2606040"/>
            <a:ext cx="3474720" cy="3429000"/>
          </a:xfrm>
          <a:prstGeom prst="roundRect">
            <a:avLst>
              <a:gd name="adj" fmla="val 32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5" name="barrier 2 circle"/>
          <p:cNvSpPr/>
          <p:nvPr/>
        </p:nvSpPr>
        <p:spPr>
          <a:xfrm>
            <a:off x="4617720" y="2926080"/>
            <a:ext cx="685800" cy="685800"/>
          </a:xfrm>
          <a:prstGeom prst="ellipse">
            <a:avLst/>
          </a:prstGeom>
          <a:solidFill>
            <a:srgbClr val="F28C28"/>
          </a:solidFill>
          <a:ln w="12700">
            <a:solidFill>
              <a:srgbClr val="F28C28"/>
            </a:solidFill>
            <a:prstDash val="solid"/>
          </a:ln>
        </p:spPr>
      </p:sp>
      <p:pic>
        <p:nvPicPr>
          <p:cNvPr id="16" name="barrier 2 icon" descr="preencoded.png">    </p:cNvPr>
          <p:cNvPicPr>
            <a:picLocks noChangeAspect="1"/>
          </p:cNvPicPr>
          <p:nvPr/>
        </p:nvPicPr>
        <p:blipFill>
          <a:blip r:embed="rId2"/>
          <a:stretch>
            <a:fillRect/>
          </a:stretch>
        </p:blipFill>
        <p:spPr>
          <a:xfrm>
            <a:off x="4782312" y="3090672"/>
            <a:ext cx="356616" cy="356616"/>
          </a:xfrm>
          <a:prstGeom prst="rect">
            <a:avLst/>
          </a:prstGeom>
        </p:spPr>
      </p:pic>
      <p:sp>
        <p:nvSpPr>
          <p:cNvPr id="17" name="Text 13"/>
          <p:cNvSpPr txBox="1"/>
          <p:nvPr/>
        </p:nvSpPr>
        <p:spPr>
          <a:xfrm>
            <a:off x="4617720" y="3794760"/>
            <a:ext cx="2834640" cy="457200"/>
          </a:xfrm>
          <a:prstGeom prst="rect">
            <a:avLst/>
          </a:prstGeom>
          <a:noFill/>
          <a:ln/>
        </p:spPr>
        <p:txBody>
          <a:bodyPr wrap="square" lIns="0" tIns="0" rIns="0" bIns="0" rtlCol="0" anchor="t"/>
          <a:lstStyle/>
          <a:p>
            <a:pPr indent="0" marL="0">
              <a:buNone/>
            </a:pPr>
            <a:r>
              <a:rPr lang="en-US" sz="2200" b="1" dirty="0">
                <a:solidFill>
                  <a:schemeClr val="tx2"/>
                </a:solidFill>
              </a:rPr>
              <a:t>Can't understand it</a:t>
            </a:r>
            <a:endParaRPr lang="en-US" sz="2200" dirty="0"/>
          </a:p>
        </p:txBody>
      </p:sp>
      <p:sp>
        <p:nvSpPr>
          <p:cNvPr id="18" name="Text 14"/>
          <p:cNvSpPr txBox="1"/>
          <p:nvPr/>
        </p:nvSpPr>
        <p:spPr>
          <a:xfrm>
            <a:off x="4617720" y="4343400"/>
            <a:ext cx="2834640" cy="1463040"/>
          </a:xfrm>
          <a:prstGeom prst="rect">
            <a:avLst/>
          </a:prstGeom>
          <a:noFill/>
          <a:ln/>
        </p:spPr>
        <p:txBody>
          <a:bodyPr wrap="square" lIns="0" tIns="0" rIns="0" bIns="0" rtlCol="0" anchor="t"/>
          <a:lstStyle/>
          <a:p>
            <a:pPr indent="0" marL="0">
              <a:buNone/>
            </a:pPr>
            <a:r>
              <a:rPr lang="en-US" sz="1500" dirty="0">
                <a:solidFill>
                  <a:schemeClr val="tx1"/>
                </a:solidFill>
              </a:rPr>
              <a:t>Translated materials still use policy terms people don't understand (Theme 1).</a:t>
            </a:r>
            <a:endParaRPr lang="en-US" sz="1500" dirty="0"/>
          </a:p>
        </p:txBody>
      </p:sp>
      <p:sp>
        <p:nvSpPr>
          <p:cNvPr id="19" name="barrier card 3"/>
          <p:cNvSpPr/>
          <p:nvPr/>
        </p:nvSpPr>
        <p:spPr>
          <a:xfrm>
            <a:off x="8046720" y="2606040"/>
            <a:ext cx="3474720" cy="3429000"/>
          </a:xfrm>
          <a:prstGeom prst="roundRect">
            <a:avLst>
              <a:gd name="adj" fmla="val 32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20" name="barrier 3 circle"/>
          <p:cNvSpPr/>
          <p:nvPr/>
        </p:nvSpPr>
        <p:spPr>
          <a:xfrm>
            <a:off x="8366760" y="2926080"/>
            <a:ext cx="685800" cy="685800"/>
          </a:xfrm>
          <a:prstGeom prst="ellipse">
            <a:avLst/>
          </a:prstGeom>
          <a:solidFill>
            <a:srgbClr val="16707F"/>
          </a:solidFill>
          <a:ln w="12700">
            <a:solidFill>
              <a:srgbClr val="16707F"/>
            </a:solidFill>
            <a:prstDash val="solid"/>
          </a:ln>
        </p:spPr>
      </p:sp>
      <p:pic>
        <p:nvPicPr>
          <p:cNvPr id="21" name="barrier 3 icon" descr="preencoded.png">    </p:cNvPr>
          <p:cNvPicPr>
            <a:picLocks noChangeAspect="1"/>
          </p:cNvPicPr>
          <p:nvPr/>
        </p:nvPicPr>
        <p:blipFill>
          <a:blip r:embed="rId3"/>
          <a:stretch>
            <a:fillRect/>
          </a:stretch>
        </p:blipFill>
        <p:spPr>
          <a:xfrm>
            <a:off x="8531352" y="3090672"/>
            <a:ext cx="356616" cy="356616"/>
          </a:xfrm>
          <a:prstGeom prst="rect">
            <a:avLst/>
          </a:prstGeom>
        </p:spPr>
      </p:pic>
      <p:sp>
        <p:nvSpPr>
          <p:cNvPr id="22" name="Text 17"/>
          <p:cNvSpPr txBox="1"/>
          <p:nvPr/>
        </p:nvSpPr>
        <p:spPr>
          <a:xfrm>
            <a:off x="8366760" y="3794760"/>
            <a:ext cx="2834640" cy="457200"/>
          </a:xfrm>
          <a:prstGeom prst="rect">
            <a:avLst/>
          </a:prstGeom>
          <a:noFill/>
          <a:ln/>
        </p:spPr>
        <p:txBody>
          <a:bodyPr wrap="square" lIns="0" tIns="0" rIns="0" bIns="0" rtlCol="0" anchor="t"/>
          <a:lstStyle/>
          <a:p>
            <a:pPr indent="0" marL="0">
              <a:buNone/>
            </a:pPr>
            <a:r>
              <a:rPr lang="en-US" sz="2200" b="1" dirty="0">
                <a:solidFill>
                  <a:schemeClr val="tx2"/>
                </a:solidFill>
              </a:rPr>
              <a:t>No idea what happens</a:t>
            </a:r>
            <a:endParaRPr lang="en-US" sz="2200" dirty="0"/>
          </a:p>
        </p:txBody>
      </p:sp>
      <p:sp>
        <p:nvSpPr>
          <p:cNvPr id="23" name="Text 18"/>
          <p:cNvSpPr txBox="1"/>
          <p:nvPr/>
        </p:nvSpPr>
        <p:spPr>
          <a:xfrm>
            <a:off x="8366760" y="4343400"/>
            <a:ext cx="2834640" cy="1463040"/>
          </a:xfrm>
          <a:prstGeom prst="rect">
            <a:avLst/>
          </a:prstGeom>
          <a:noFill/>
          <a:ln/>
        </p:spPr>
        <p:txBody>
          <a:bodyPr wrap="square" lIns="0" tIns="0" rIns="0" bIns="0" rtlCol="0" anchor="t"/>
          <a:lstStyle/>
          <a:p>
            <a:pPr indent="0" marL="0">
              <a:buNone/>
            </a:pPr>
            <a:r>
              <a:rPr lang="en-US" sz="1500" dirty="0">
                <a:solidFill>
                  <a:schemeClr val="tx1"/>
                </a:solidFill>
              </a:rPr>
              <a:t>People don't know which department to contact or whether their feedback was heard (Theme 4).</a:t>
            </a:r>
            <a:endParaRPr lang="en-US" sz="15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Meet Jason: he wants to be heard</a:t>
            </a:r>
            <a:endParaRPr lang="en-US" sz="3400" dirty="0"/>
          </a:p>
        </p:txBody>
      </p:sp>
      <p:pic>
        <p:nvPicPr>
          <p:cNvPr id="3" name="Persona card for Jason Lee" descr="Persona card for Jason Lee">    </p:cNvPr>
          <p:cNvPicPr>
            <a:picLocks noChangeAspect="1"/>
          </p:cNvPicPr>
          <p:nvPr/>
        </p:nvPicPr>
        <p:blipFill>
          <a:blip r:embed="rId1"/>
          <a:stretch>
            <a:fillRect/>
          </a:stretch>
        </p:blipFill>
        <p:spPr>
          <a:xfrm>
            <a:off x="548640" y="1280160"/>
            <a:ext cx="5572615" cy="4937760"/>
          </a:xfrm>
          <a:prstGeom prst="rect">
            <a:avLst/>
          </a:prstGeom>
        </p:spPr>
      </p:pic>
      <p:pic>
        <p:nvPicPr>
          <p:cNvPr id="4" name="Jason walking his dog" descr="Jason walking his dog">    </p:cNvPr>
          <p:cNvPicPr>
            <a:picLocks noChangeAspect="1"/>
          </p:cNvPicPr>
          <p:nvPr/>
        </p:nvPicPr>
        <p:blipFill>
          <a:blip r:embed="rId2"/>
          <a:stretch>
            <a:fillRect/>
          </a:stretch>
        </p:blipFill>
        <p:spPr>
          <a:xfrm>
            <a:off x="6400800" y="1554480"/>
            <a:ext cx="2926080" cy="2926080"/>
          </a:xfrm>
          <a:prstGeom prst="rect">
            <a:avLst/>
          </a:prstGeom>
        </p:spPr>
      </p:pic>
      <p:sp>
        <p:nvSpPr>
          <p:cNvPr id="5" name="scenario card"/>
          <p:cNvSpPr/>
          <p:nvPr/>
        </p:nvSpPr>
        <p:spPr>
          <a:xfrm>
            <a:off x="6400800" y="4709160"/>
            <a:ext cx="5212080" cy="1508760"/>
          </a:xfrm>
          <a:prstGeom prst="roundRect">
            <a:avLst>
              <a:gd name="adj" fmla="val 7273"/>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6" name="Text 2"/>
          <p:cNvSpPr txBox="1"/>
          <p:nvPr/>
        </p:nvSpPr>
        <p:spPr>
          <a:xfrm>
            <a:off x="6629400" y="4846320"/>
            <a:ext cx="4754880" cy="1234440"/>
          </a:xfrm>
          <a:prstGeom prst="rect">
            <a:avLst/>
          </a:prstGeom>
          <a:noFill/>
          <a:ln/>
        </p:spPr>
        <p:txBody>
          <a:bodyPr wrap="square" lIns="0" tIns="0" rIns="0" bIns="0" rtlCol="0" anchor="ctr"/>
          <a:lstStyle/>
          <a:p>
            <a:pPr indent="0" marL="0">
              <a:buNone/>
            </a:pPr>
            <a:r>
              <a:rPr lang="en-US" sz="1500" b="1" dirty="0">
                <a:solidFill>
                  <a:srgbClr val="E0544B"/>
                </a:solidFill>
              </a:rPr>
              <a:t>Scenario (fictional): </a:t>
            </a:r>
            <a:pPr indent="0" marL="0">
              <a:buNone/>
            </a:pPr>
            <a:r>
              <a:rPr lang="en-US" sz="1500" dirty="0">
                <a:solidFill>
                  <a:schemeClr val="tx1"/>
                </a:solidFill>
              </a:rPr>
              <a:t>Saturday, 8 am. A new park rule says dogs must be on a leash 7–10 am on weekends. Jason disagrees, but doesn't know who to tell or which words to use.</a:t>
            </a:r>
            <a:endParaRPr lang="en-US" sz="1500" dirty="0"/>
          </a:p>
        </p:txBody>
      </p:sp>
      <p:sp>
        <p:nvSpPr>
          <p:cNvPr id="7" name="Text 3"/>
          <p:cNvSpPr txBox="1"/>
          <p:nvPr/>
        </p:nvSpPr>
        <p:spPr>
          <a:xfrm>
            <a:off x="9418320" y="2103120"/>
            <a:ext cx="2194560" cy="914400"/>
          </a:xfrm>
          <a:prstGeom prst="rect">
            <a:avLst/>
          </a:prstGeom>
          <a:noFill/>
          <a:ln/>
        </p:spPr>
        <p:txBody>
          <a:bodyPr wrap="square" lIns="0" tIns="0" rIns="0" bIns="0" rtlCol="0" anchor="t"/>
          <a:lstStyle/>
          <a:p>
            <a:pPr indent="0" marL="0">
              <a:buNone/>
            </a:pPr>
            <a:r>
              <a:rPr lang="en-US" sz="1600" b="1" dirty="0">
                <a:solidFill>
                  <a:srgbClr val="7B4B94"/>
                </a:solidFill>
              </a:rPr>
              <a:t>Mainly uses</a:t>
            </a:r>
            <a:endParaRPr lang="en-US" sz="1600" dirty="0"/>
          </a:p>
          <a:p>
            <a:pPr indent="0" marL="0">
              <a:buNone/>
            </a:pPr>
            <a:r>
              <a:rPr lang="en-US" sz="1600" dirty="0">
                <a:solidFill>
                  <a:schemeClr val="tx1"/>
                </a:solidFill>
              </a:rPr>
              <a:t>Speak to Spud + issue tracker</a:t>
            </a:r>
            <a:endParaRPr lang="en-US" sz="1600" dirty="0"/>
          </a:p>
        </p:txBody>
      </p:sp>
      <p:sp>
        <p:nvSpPr>
          <p:cNvPr id="8" name="Text 4"/>
          <p:cNvSpPr txBox="1"/>
          <p:nvPr/>
        </p:nvSpPr>
        <p:spPr>
          <a:xfrm>
            <a:off x="9418320" y="3200400"/>
            <a:ext cx="2194560" cy="1188720"/>
          </a:xfrm>
          <a:prstGeom prst="rect">
            <a:avLst/>
          </a:prstGeom>
          <a:noFill/>
          <a:ln/>
        </p:spPr>
        <p:txBody>
          <a:bodyPr wrap="square" lIns="0" tIns="0" rIns="0" bIns="0" rtlCol="0" anchor="t"/>
          <a:lstStyle/>
          <a:p>
            <a:pPr indent="0" marL="0">
              <a:buNone/>
            </a:pPr>
            <a:r>
              <a:rPr lang="en-US" sz="1400" b="1" dirty="0">
                <a:solidFill>
                  <a:srgbClr val="7B4B94"/>
                </a:solidFill>
              </a:rPr>
              <a:t>Based on</a:t>
            </a:r>
            <a:endParaRPr lang="en-US" sz="1400" dirty="0"/>
          </a:p>
          <a:p>
            <a:pPr indent="0" marL="0">
              <a:buNone/>
            </a:pPr>
            <a:r>
              <a:rPr lang="en-US" sz="1400" dirty="0">
                <a:solidFill>
                  <a:schemeClr val="tx1"/>
                </a:solidFill>
              </a:rPr>
              <a:t>immigrant interviewees, incl. P4 (dog owner, park rules changed)</a:t>
            </a:r>
            <a:endParaRPr lang="en-US" sz="14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Meet HearHere and Spud</a:t>
            </a:r>
            <a:endParaRPr lang="en-US" sz="3400" dirty="0"/>
          </a:p>
        </p:txBody>
      </p:sp>
      <p:pic>
        <p:nvPicPr>
          <p:cNvPr id="3" name="Labelled HearHere post and Spud from four sides" descr="Labelled HearHere post and Spud from four sides">    </p:cNvPr>
          <p:cNvPicPr>
            <a:picLocks noChangeAspect="1"/>
          </p:cNvPicPr>
          <p:nvPr/>
        </p:nvPicPr>
        <p:blipFill>
          <a:blip r:embed="rId1"/>
          <a:stretch>
            <a:fillRect/>
          </a:stretch>
        </p:blipFill>
        <p:spPr>
          <a:xfrm>
            <a:off x="1915160" y="1234440"/>
            <a:ext cx="8331200" cy="4572000"/>
          </a:xfrm>
          <a:prstGeom prst="rect">
            <a:avLst/>
          </a:prstGeom>
        </p:spPr>
      </p:pic>
      <p:sp>
        <p:nvSpPr>
          <p:cNvPr id="4" name="Text 1"/>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500" dirty="0">
                <a:solidFill>
                  <a:srgbClr val="5B5470"/>
                </a:solidFill>
              </a:rPr>
              <a:t>A 130 cm post for footpaths, library entrances and streets near campus. The four views are redrawn from our concept sketch.</a:t>
            </a:r>
            <a:endParaRPr lang="en-US" sz="15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Jason's Saturday morning, step by step</a:t>
            </a:r>
            <a:endParaRPr lang="en-US" sz="3400" dirty="0"/>
          </a:p>
        </p:txBody>
      </p:sp>
      <p:sp>
        <p:nvSpPr>
          <p:cNvPr id="3" name="step card 1"/>
          <p:cNvSpPr/>
          <p:nvPr/>
        </p:nvSpPr>
        <p:spPr>
          <a:xfrm>
            <a:off x="548640" y="1325880"/>
            <a:ext cx="2057400" cy="3246120"/>
          </a:xfrm>
          <a:prstGeom prst="roundRect">
            <a:avLst>
              <a:gd name="adj" fmla="val 5333"/>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4" name="step number 1"/>
          <p:cNvSpPr/>
          <p:nvPr/>
        </p:nvSpPr>
        <p:spPr>
          <a:xfrm>
            <a:off x="731520" y="1508760"/>
            <a:ext cx="457200" cy="457200"/>
          </a:xfrm>
          <a:prstGeom prst="ellipse">
            <a:avLst/>
          </a:prstGeom>
          <a:solidFill>
            <a:srgbClr val="F28C28"/>
          </a:solidFill>
          <a:ln w="12700">
            <a:solidFill>
              <a:srgbClr val="F28C28"/>
            </a:solidFill>
            <a:prstDash val="solid"/>
          </a:ln>
        </p:spPr>
      </p:sp>
      <p:sp>
        <p:nvSpPr>
          <p:cNvPr id="5"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280160" y="1508760"/>
            <a:ext cx="1234440" cy="457200"/>
          </a:xfrm>
          <a:prstGeom prst="rect">
            <a:avLst/>
          </a:prstGeom>
          <a:noFill/>
          <a:ln/>
        </p:spPr>
        <p:txBody>
          <a:bodyPr wrap="square" lIns="0" tIns="0" rIns="0" bIns="0" rtlCol="0" anchor="ctr"/>
          <a:lstStyle/>
          <a:p>
            <a:pPr indent="0" marL="0">
              <a:buNone/>
            </a:pPr>
            <a:r>
              <a:rPr lang="en-US" sz="1800" b="1" dirty="0">
                <a:solidFill>
                  <a:schemeClr val="tx2"/>
                </a:solidFill>
              </a:rPr>
              <a:t>Discover</a:t>
            </a:r>
            <a:endParaRPr lang="en-US" sz="1800" dirty="0"/>
          </a:p>
        </p:txBody>
      </p:sp>
      <p:pic>
        <p:nvPicPr>
          <p:cNvPr id="7" name="step image Discover" descr="step image Discover">    </p:cNvPr>
          <p:cNvPicPr>
            <a:picLocks noChangeAspect="1"/>
          </p:cNvPicPr>
          <p:nvPr/>
        </p:nvPicPr>
        <p:blipFill>
          <a:blip r:embed="rId1"/>
          <a:stretch>
            <a:fillRect/>
          </a:stretch>
        </p:blipFill>
        <p:spPr>
          <a:xfrm>
            <a:off x="658368" y="2236349"/>
            <a:ext cx="1837944" cy="1150862"/>
          </a:xfrm>
          <a:prstGeom prst="rect">
            <a:avLst/>
          </a:prstGeom>
        </p:spPr>
      </p:pic>
      <p:sp>
        <p:nvSpPr>
          <p:cNvPr id="8" name="Text 5"/>
          <p:cNvSpPr txBox="1"/>
          <p:nvPr/>
        </p:nvSpPr>
        <p:spPr>
          <a:xfrm>
            <a:off x="731520" y="3611880"/>
            <a:ext cx="1691640" cy="868680"/>
          </a:xfrm>
          <a:prstGeom prst="rect">
            <a:avLst/>
          </a:prstGeom>
          <a:noFill/>
          <a:ln/>
        </p:spPr>
        <p:txBody>
          <a:bodyPr wrap="square" lIns="0" tIns="0" rIns="0" bIns="0" rtlCol="0" anchor="t"/>
          <a:lstStyle/>
          <a:p>
            <a:pPr indent="0" marL="0">
              <a:buNone/>
            </a:pPr>
            <a:r>
              <a:rPr lang="en-US" sz="1300" dirty="0">
                <a:solidFill>
                  <a:schemeClr val="tx1"/>
                </a:solidFill>
              </a:rPr>
              <a:t>Nearby issues, ranked by distance and closing date</a:t>
            </a:r>
            <a:endParaRPr lang="en-US" sz="1300" dirty="0"/>
          </a:p>
        </p:txBody>
      </p:sp>
      <p:sp>
        <p:nvSpPr>
          <p:cNvPr id="9" name="Text 6"/>
          <p:cNvSpPr txBox="1"/>
          <p:nvPr/>
        </p:nvSpPr>
        <p:spPr>
          <a:xfrm>
            <a:off x="2587752" y="2606040"/>
            <a:ext cx="228600" cy="457200"/>
          </a:xfrm>
          <a:prstGeom prst="rect">
            <a:avLst/>
          </a:prstGeom>
          <a:noFill/>
          <a:ln/>
        </p:spPr>
        <p:txBody>
          <a:bodyPr wrap="square" lIns="0" tIns="0" rIns="0" bIns="0" rtlCol="0" anchor="ctr"/>
          <a:lstStyle/>
          <a:p>
            <a:pPr algn="ctr" indent="0" marL="0">
              <a:buNone/>
            </a:pPr>
            <a:r>
              <a:rPr lang="en-US" sz="2800" b="1" dirty="0">
                <a:solidFill>
                  <a:srgbClr val="7B4B94"/>
                </a:solidFill>
              </a:rPr>
              <a:t>›</a:t>
            </a:r>
            <a:endParaRPr lang="en-US" sz="2800" dirty="0"/>
          </a:p>
        </p:txBody>
      </p:sp>
      <p:sp>
        <p:nvSpPr>
          <p:cNvPr id="10" name="step card 2"/>
          <p:cNvSpPr/>
          <p:nvPr/>
        </p:nvSpPr>
        <p:spPr>
          <a:xfrm>
            <a:off x="2816352" y="1325880"/>
            <a:ext cx="2057400" cy="3246120"/>
          </a:xfrm>
          <a:prstGeom prst="roundRect">
            <a:avLst>
              <a:gd name="adj" fmla="val 5333"/>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1" name="step number 2"/>
          <p:cNvSpPr/>
          <p:nvPr/>
        </p:nvSpPr>
        <p:spPr>
          <a:xfrm>
            <a:off x="2999232" y="1508760"/>
            <a:ext cx="457200" cy="457200"/>
          </a:xfrm>
          <a:prstGeom prst="ellipse">
            <a:avLst/>
          </a:prstGeom>
          <a:solidFill>
            <a:srgbClr val="F28C28"/>
          </a:solidFill>
          <a:ln w="12700">
            <a:solidFill>
              <a:srgbClr val="F28C28"/>
            </a:solidFill>
            <a:prstDash val="solid"/>
          </a:ln>
        </p:spPr>
      </p:sp>
      <p:sp>
        <p:nvSpPr>
          <p:cNvPr id="12" name="Text 9"/>
          <p:cNvSpPr txBox="1"/>
          <p:nvPr/>
        </p:nvSpPr>
        <p:spPr>
          <a:xfrm>
            <a:off x="2999232"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3547872" y="1508760"/>
            <a:ext cx="1234440" cy="457200"/>
          </a:xfrm>
          <a:prstGeom prst="rect">
            <a:avLst/>
          </a:prstGeom>
          <a:noFill/>
          <a:ln/>
        </p:spPr>
        <p:txBody>
          <a:bodyPr wrap="square" lIns="0" tIns="0" rIns="0" bIns="0" rtlCol="0" anchor="ctr"/>
          <a:lstStyle/>
          <a:p>
            <a:pPr indent="0" marL="0">
              <a:buNone/>
            </a:pPr>
            <a:r>
              <a:rPr lang="en-US" sz="1800" b="1" dirty="0">
                <a:solidFill>
                  <a:schemeClr val="tx2"/>
                </a:solidFill>
              </a:rPr>
              <a:t>Understand</a:t>
            </a:r>
            <a:endParaRPr lang="en-US" sz="1800" dirty="0"/>
          </a:p>
        </p:txBody>
      </p:sp>
      <p:pic>
        <p:nvPicPr>
          <p:cNvPr id="14" name="step image Understand" descr="step image Understand">    </p:cNvPr>
          <p:cNvPicPr>
            <a:picLocks noChangeAspect="1"/>
          </p:cNvPicPr>
          <p:nvPr/>
        </p:nvPicPr>
        <p:blipFill>
          <a:blip r:embed="rId2"/>
          <a:stretch>
            <a:fillRect/>
          </a:stretch>
        </p:blipFill>
        <p:spPr>
          <a:xfrm>
            <a:off x="2926080" y="2236349"/>
            <a:ext cx="1837944" cy="1150862"/>
          </a:xfrm>
          <a:prstGeom prst="rect">
            <a:avLst/>
          </a:prstGeom>
        </p:spPr>
      </p:pic>
      <p:sp>
        <p:nvSpPr>
          <p:cNvPr id="15" name="Text 11"/>
          <p:cNvSpPr txBox="1"/>
          <p:nvPr/>
        </p:nvSpPr>
        <p:spPr>
          <a:xfrm>
            <a:off x="2999232" y="3611880"/>
            <a:ext cx="1691640" cy="868680"/>
          </a:xfrm>
          <a:prstGeom prst="rect">
            <a:avLst/>
          </a:prstGeom>
          <a:noFill/>
          <a:ln/>
        </p:spPr>
        <p:txBody>
          <a:bodyPr wrap="square" lIns="0" tIns="0" rIns="0" bIns="0" rtlCol="0" anchor="t"/>
          <a:lstStyle/>
          <a:p>
            <a:pPr indent="0" marL="0">
              <a:buNone/>
            </a:pPr>
            <a:r>
              <a:rPr lang="en-US" sz="1300" dirty="0">
                <a:solidFill>
                  <a:schemeClr val="tx1"/>
                </a:solidFill>
              </a:rPr>
              <a:t>Plain-language summary in his language, key terms explained</a:t>
            </a:r>
            <a:endParaRPr lang="en-US" sz="1300" dirty="0"/>
          </a:p>
        </p:txBody>
      </p:sp>
      <p:sp>
        <p:nvSpPr>
          <p:cNvPr id="16" name="Text 12"/>
          <p:cNvSpPr txBox="1"/>
          <p:nvPr/>
        </p:nvSpPr>
        <p:spPr>
          <a:xfrm>
            <a:off x="4855464" y="2606040"/>
            <a:ext cx="228600" cy="457200"/>
          </a:xfrm>
          <a:prstGeom prst="rect">
            <a:avLst/>
          </a:prstGeom>
          <a:noFill/>
          <a:ln/>
        </p:spPr>
        <p:txBody>
          <a:bodyPr wrap="square" lIns="0" tIns="0" rIns="0" bIns="0" rtlCol="0" anchor="ctr"/>
          <a:lstStyle/>
          <a:p>
            <a:pPr algn="ctr" indent="0" marL="0">
              <a:buNone/>
            </a:pPr>
            <a:r>
              <a:rPr lang="en-US" sz="2800" b="1" dirty="0">
                <a:solidFill>
                  <a:srgbClr val="7B4B94"/>
                </a:solidFill>
              </a:rPr>
              <a:t>›</a:t>
            </a:r>
            <a:endParaRPr lang="en-US" sz="2800" dirty="0"/>
          </a:p>
        </p:txBody>
      </p:sp>
      <p:sp>
        <p:nvSpPr>
          <p:cNvPr id="17" name="step card 3"/>
          <p:cNvSpPr/>
          <p:nvPr/>
        </p:nvSpPr>
        <p:spPr>
          <a:xfrm>
            <a:off x="5084064" y="1325880"/>
            <a:ext cx="2057400" cy="3246120"/>
          </a:xfrm>
          <a:prstGeom prst="roundRect">
            <a:avLst>
              <a:gd name="adj" fmla="val 5333"/>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8" name="step number 3"/>
          <p:cNvSpPr/>
          <p:nvPr/>
        </p:nvSpPr>
        <p:spPr>
          <a:xfrm>
            <a:off x="5266944" y="1508760"/>
            <a:ext cx="457200" cy="457200"/>
          </a:xfrm>
          <a:prstGeom prst="ellipse">
            <a:avLst/>
          </a:prstGeom>
          <a:solidFill>
            <a:srgbClr val="F28C28"/>
          </a:solidFill>
          <a:ln w="12700">
            <a:solidFill>
              <a:srgbClr val="F28C28"/>
            </a:solidFill>
            <a:prstDash val="solid"/>
          </a:ln>
        </p:spPr>
      </p:sp>
      <p:sp>
        <p:nvSpPr>
          <p:cNvPr id="19" name="Text 15"/>
          <p:cNvSpPr txBox="1"/>
          <p:nvPr/>
        </p:nvSpPr>
        <p:spPr>
          <a:xfrm>
            <a:off x="5266944"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6"/>
          <p:cNvSpPr txBox="1"/>
          <p:nvPr/>
        </p:nvSpPr>
        <p:spPr>
          <a:xfrm>
            <a:off x="5815584" y="1508760"/>
            <a:ext cx="1234440" cy="457200"/>
          </a:xfrm>
          <a:prstGeom prst="rect">
            <a:avLst/>
          </a:prstGeom>
          <a:noFill/>
          <a:ln/>
        </p:spPr>
        <p:txBody>
          <a:bodyPr wrap="square" lIns="0" tIns="0" rIns="0" bIns="0" rtlCol="0" anchor="ctr"/>
          <a:lstStyle/>
          <a:p>
            <a:pPr indent="0" marL="0">
              <a:buNone/>
            </a:pPr>
            <a:r>
              <a:rPr lang="en-US" sz="1800" b="1" dirty="0">
                <a:solidFill>
                  <a:schemeClr val="tx2"/>
                </a:solidFill>
              </a:rPr>
              <a:t>Speak</a:t>
            </a:r>
            <a:endParaRPr lang="en-US" sz="1800" dirty="0"/>
          </a:p>
        </p:txBody>
      </p:sp>
      <p:pic>
        <p:nvPicPr>
          <p:cNvPr id="21" name="step image Speak" descr="step image Speak">    </p:cNvPr>
          <p:cNvPicPr>
            <a:picLocks noChangeAspect="1"/>
          </p:cNvPicPr>
          <p:nvPr/>
        </p:nvPicPr>
        <p:blipFill>
          <a:blip r:embed="rId3"/>
          <a:stretch>
            <a:fillRect/>
          </a:stretch>
        </p:blipFill>
        <p:spPr>
          <a:xfrm>
            <a:off x="5193792" y="2236349"/>
            <a:ext cx="1837944" cy="1150862"/>
          </a:xfrm>
          <a:prstGeom prst="rect">
            <a:avLst/>
          </a:prstGeom>
        </p:spPr>
      </p:pic>
      <p:sp>
        <p:nvSpPr>
          <p:cNvPr id="22" name="Text 17"/>
          <p:cNvSpPr txBox="1"/>
          <p:nvPr/>
        </p:nvSpPr>
        <p:spPr>
          <a:xfrm>
            <a:off x="5266944" y="3611880"/>
            <a:ext cx="1691640" cy="868680"/>
          </a:xfrm>
          <a:prstGeom prst="rect">
            <a:avLst/>
          </a:prstGeom>
          <a:noFill/>
          <a:ln/>
        </p:spPr>
        <p:txBody>
          <a:bodyPr wrap="square" lIns="0" tIns="0" rIns="0" bIns="0" rtlCol="0" anchor="t"/>
          <a:lstStyle/>
          <a:p>
            <a:pPr indent="0" marL="0">
              <a:buNone/>
            </a:pPr>
            <a:r>
              <a:rPr lang="en-US" sz="1300" dirty="0">
                <a:solidFill>
                  <a:schemeClr val="tx1"/>
                </a:solidFill>
              </a:rPr>
              <a:t>Talks to Spud in Mandarin</a:t>
            </a:r>
            <a:endParaRPr lang="en-US" sz="1300" dirty="0"/>
          </a:p>
        </p:txBody>
      </p:sp>
      <p:sp>
        <p:nvSpPr>
          <p:cNvPr id="23" name="Text 18"/>
          <p:cNvSpPr txBox="1"/>
          <p:nvPr/>
        </p:nvSpPr>
        <p:spPr>
          <a:xfrm>
            <a:off x="7123176" y="2606040"/>
            <a:ext cx="228600" cy="457200"/>
          </a:xfrm>
          <a:prstGeom prst="rect">
            <a:avLst/>
          </a:prstGeom>
          <a:noFill/>
          <a:ln/>
        </p:spPr>
        <p:txBody>
          <a:bodyPr wrap="square" lIns="0" tIns="0" rIns="0" bIns="0" rtlCol="0" anchor="ctr"/>
          <a:lstStyle/>
          <a:p>
            <a:pPr algn="ctr" indent="0" marL="0">
              <a:buNone/>
            </a:pPr>
            <a:r>
              <a:rPr lang="en-US" sz="2800" b="1" dirty="0">
                <a:solidFill>
                  <a:srgbClr val="7B4B94"/>
                </a:solidFill>
              </a:rPr>
              <a:t>›</a:t>
            </a:r>
            <a:endParaRPr lang="en-US" sz="2800" dirty="0"/>
          </a:p>
        </p:txBody>
      </p:sp>
      <p:sp>
        <p:nvSpPr>
          <p:cNvPr id="24" name="step card 4"/>
          <p:cNvSpPr/>
          <p:nvPr/>
        </p:nvSpPr>
        <p:spPr>
          <a:xfrm>
            <a:off x="7351776" y="1325880"/>
            <a:ext cx="2057400" cy="3246120"/>
          </a:xfrm>
          <a:prstGeom prst="roundRect">
            <a:avLst>
              <a:gd name="adj" fmla="val 5333"/>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25" name="step number 4"/>
          <p:cNvSpPr/>
          <p:nvPr/>
        </p:nvSpPr>
        <p:spPr>
          <a:xfrm>
            <a:off x="7534656" y="1508760"/>
            <a:ext cx="457200" cy="457200"/>
          </a:xfrm>
          <a:prstGeom prst="ellipse">
            <a:avLst/>
          </a:prstGeom>
          <a:solidFill>
            <a:srgbClr val="F28C28"/>
          </a:solidFill>
          <a:ln w="12700">
            <a:solidFill>
              <a:srgbClr val="F28C28"/>
            </a:solidFill>
            <a:prstDash val="solid"/>
          </a:ln>
        </p:spPr>
      </p:sp>
      <p:sp>
        <p:nvSpPr>
          <p:cNvPr id="26" name="Text 21"/>
          <p:cNvSpPr txBox="1"/>
          <p:nvPr/>
        </p:nvSpPr>
        <p:spPr>
          <a:xfrm>
            <a:off x="7534656"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Text 22"/>
          <p:cNvSpPr txBox="1"/>
          <p:nvPr/>
        </p:nvSpPr>
        <p:spPr>
          <a:xfrm>
            <a:off x="8083296" y="1508760"/>
            <a:ext cx="1234440" cy="457200"/>
          </a:xfrm>
          <a:prstGeom prst="rect">
            <a:avLst/>
          </a:prstGeom>
          <a:noFill/>
          <a:ln/>
        </p:spPr>
        <p:txBody>
          <a:bodyPr wrap="square" lIns="0" tIns="0" rIns="0" bIns="0" rtlCol="0" anchor="ctr"/>
          <a:lstStyle/>
          <a:p>
            <a:pPr indent="0" marL="0">
              <a:buNone/>
            </a:pPr>
            <a:r>
              <a:rPr lang="en-US" sz="1800" b="1" dirty="0">
                <a:solidFill>
                  <a:schemeClr val="tx2"/>
                </a:solidFill>
              </a:rPr>
              <a:t>Confirm</a:t>
            </a:r>
            <a:endParaRPr lang="en-US" sz="1800" dirty="0"/>
          </a:p>
        </p:txBody>
      </p:sp>
      <p:pic>
        <p:nvPicPr>
          <p:cNvPr id="28" name="step image Confirm" descr="step image Confirm">    </p:cNvPr>
          <p:cNvPicPr>
            <a:picLocks noChangeAspect="1"/>
          </p:cNvPicPr>
          <p:nvPr/>
        </p:nvPicPr>
        <p:blipFill>
          <a:blip r:embed="rId4"/>
          <a:stretch>
            <a:fillRect/>
          </a:stretch>
        </p:blipFill>
        <p:spPr>
          <a:xfrm>
            <a:off x="7461504" y="2236349"/>
            <a:ext cx="1837944" cy="1150862"/>
          </a:xfrm>
          <a:prstGeom prst="rect">
            <a:avLst/>
          </a:prstGeom>
        </p:spPr>
      </p:pic>
      <p:sp>
        <p:nvSpPr>
          <p:cNvPr id="29" name="Text 23"/>
          <p:cNvSpPr txBox="1"/>
          <p:nvPr/>
        </p:nvSpPr>
        <p:spPr>
          <a:xfrm>
            <a:off x="7534656" y="3611880"/>
            <a:ext cx="1691640" cy="868680"/>
          </a:xfrm>
          <a:prstGeom prst="rect">
            <a:avLst/>
          </a:prstGeom>
          <a:noFill/>
          <a:ln/>
        </p:spPr>
        <p:txBody>
          <a:bodyPr wrap="square" lIns="0" tIns="0" rIns="0" bIns="0" rtlCol="0" anchor="t"/>
          <a:lstStyle/>
          <a:p>
            <a:pPr indent="0" marL="0">
              <a:buNone/>
            </a:pPr>
            <a:r>
              <a:rPr lang="en-US" sz="1300" dirty="0">
                <a:solidFill>
                  <a:schemeClr val="tx1"/>
                </a:solidFill>
              </a:rPr>
              <a:t>AI writes the English comment and names the department</a:t>
            </a:r>
            <a:endParaRPr lang="en-US" sz="1300" dirty="0"/>
          </a:p>
        </p:txBody>
      </p:sp>
      <p:sp>
        <p:nvSpPr>
          <p:cNvPr id="30" name="Text 24"/>
          <p:cNvSpPr txBox="1"/>
          <p:nvPr/>
        </p:nvSpPr>
        <p:spPr>
          <a:xfrm>
            <a:off x="9390888" y="2606040"/>
            <a:ext cx="228600" cy="457200"/>
          </a:xfrm>
          <a:prstGeom prst="rect">
            <a:avLst/>
          </a:prstGeom>
          <a:noFill/>
          <a:ln/>
        </p:spPr>
        <p:txBody>
          <a:bodyPr wrap="square" lIns="0" tIns="0" rIns="0" bIns="0" rtlCol="0" anchor="ctr"/>
          <a:lstStyle/>
          <a:p>
            <a:pPr algn="ctr" indent="0" marL="0">
              <a:buNone/>
            </a:pPr>
            <a:r>
              <a:rPr lang="en-US" sz="2800" b="1" dirty="0">
                <a:solidFill>
                  <a:srgbClr val="7B4B94"/>
                </a:solidFill>
              </a:rPr>
              <a:t>›</a:t>
            </a:r>
            <a:endParaRPr lang="en-US" sz="2800" dirty="0"/>
          </a:p>
        </p:txBody>
      </p:sp>
      <p:sp>
        <p:nvSpPr>
          <p:cNvPr id="31" name="step card 5"/>
          <p:cNvSpPr/>
          <p:nvPr/>
        </p:nvSpPr>
        <p:spPr>
          <a:xfrm>
            <a:off x="9619488" y="1325880"/>
            <a:ext cx="2057400" cy="3246120"/>
          </a:xfrm>
          <a:prstGeom prst="roundRect">
            <a:avLst>
              <a:gd name="adj" fmla="val 5333"/>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32" name="step number 5"/>
          <p:cNvSpPr/>
          <p:nvPr/>
        </p:nvSpPr>
        <p:spPr>
          <a:xfrm>
            <a:off x="9802368" y="1508760"/>
            <a:ext cx="457200" cy="457200"/>
          </a:xfrm>
          <a:prstGeom prst="ellipse">
            <a:avLst/>
          </a:prstGeom>
          <a:solidFill>
            <a:srgbClr val="F28C28"/>
          </a:solidFill>
          <a:ln w="12700">
            <a:solidFill>
              <a:srgbClr val="F28C28"/>
            </a:solidFill>
            <a:prstDash val="solid"/>
          </a:ln>
        </p:spPr>
      </p:sp>
      <p:sp>
        <p:nvSpPr>
          <p:cNvPr id="33" name="Text 27"/>
          <p:cNvSpPr txBox="1"/>
          <p:nvPr/>
        </p:nvSpPr>
        <p:spPr>
          <a:xfrm>
            <a:off x="9802368"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4" name="Text 28"/>
          <p:cNvSpPr txBox="1"/>
          <p:nvPr/>
        </p:nvSpPr>
        <p:spPr>
          <a:xfrm>
            <a:off x="10351008" y="1508760"/>
            <a:ext cx="1234440" cy="457200"/>
          </a:xfrm>
          <a:prstGeom prst="rect">
            <a:avLst/>
          </a:prstGeom>
          <a:noFill/>
          <a:ln/>
        </p:spPr>
        <p:txBody>
          <a:bodyPr wrap="square" lIns="0" tIns="0" rIns="0" bIns="0" rtlCol="0" anchor="ctr"/>
          <a:lstStyle/>
          <a:p>
            <a:pPr indent="0" marL="0">
              <a:buNone/>
            </a:pPr>
            <a:r>
              <a:rPr lang="en-US" sz="1800" b="1" dirty="0">
                <a:solidFill>
                  <a:schemeClr val="tx2"/>
                </a:solidFill>
              </a:rPr>
              <a:t>Save &amp; track</a:t>
            </a:r>
            <a:endParaRPr lang="en-US" sz="1800" dirty="0"/>
          </a:p>
        </p:txBody>
      </p:sp>
      <p:pic>
        <p:nvPicPr>
          <p:cNvPr id="35" name="step image Save &amp; track" descr="step image Save &amp; track">    </p:cNvPr>
          <p:cNvPicPr>
            <a:picLocks noChangeAspect="1"/>
          </p:cNvPicPr>
          <p:nvPr/>
        </p:nvPicPr>
        <p:blipFill>
          <a:blip r:embed="rId5"/>
          <a:stretch>
            <a:fillRect/>
          </a:stretch>
        </p:blipFill>
        <p:spPr>
          <a:xfrm>
            <a:off x="10278452" y="2103120"/>
            <a:ext cx="739471" cy="1417320"/>
          </a:xfrm>
          <a:prstGeom prst="rect">
            <a:avLst/>
          </a:prstGeom>
        </p:spPr>
      </p:pic>
      <p:sp>
        <p:nvSpPr>
          <p:cNvPr id="36" name="Text 29"/>
          <p:cNvSpPr txBox="1"/>
          <p:nvPr/>
        </p:nvSpPr>
        <p:spPr>
          <a:xfrm>
            <a:off x="9802368" y="3611880"/>
            <a:ext cx="1691640" cy="868680"/>
          </a:xfrm>
          <a:prstGeom prst="rect">
            <a:avLst/>
          </a:prstGeom>
          <a:noFill/>
          <a:ln/>
        </p:spPr>
        <p:txBody>
          <a:bodyPr wrap="square" lIns="0" tIns="0" rIns="0" bIns="0" rtlCol="0" anchor="t"/>
          <a:lstStyle/>
          <a:p>
            <a:pPr indent="0" marL="0">
              <a:buNone/>
            </a:pPr>
            <a:r>
              <a:rPr lang="en-US" sz="1300" dirty="0">
                <a:solidFill>
                  <a:schemeClr val="tx1"/>
                </a:solidFill>
              </a:rPr>
              <a:t>NFC tap to his phone, then follow each stage</a:t>
            </a:r>
            <a:endParaRPr lang="en-US" sz="1300" dirty="0"/>
          </a:p>
        </p:txBody>
      </p:sp>
      <p:sp>
        <p:nvSpPr>
          <p:cNvPr id="37" name="what Jason says card"/>
          <p:cNvSpPr/>
          <p:nvPr/>
        </p:nvSpPr>
        <p:spPr>
          <a:xfrm>
            <a:off x="548640" y="4846320"/>
            <a:ext cx="11064240" cy="1325880"/>
          </a:xfrm>
          <a:prstGeom prst="roundRect">
            <a:avLst>
              <a:gd name="adj" fmla="val 8276"/>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38" name="Jason speaks circle"/>
          <p:cNvSpPr/>
          <p:nvPr/>
        </p:nvSpPr>
        <p:spPr>
          <a:xfrm>
            <a:off x="822960" y="5166360"/>
            <a:ext cx="685800" cy="685800"/>
          </a:xfrm>
          <a:prstGeom prst="ellipse">
            <a:avLst/>
          </a:prstGeom>
          <a:solidFill>
            <a:srgbClr val="7B4B94"/>
          </a:solidFill>
          <a:ln w="12700">
            <a:solidFill>
              <a:srgbClr val="7B4B94"/>
            </a:solidFill>
            <a:prstDash val="solid"/>
          </a:ln>
        </p:spPr>
      </p:sp>
      <p:pic>
        <p:nvPicPr>
          <p:cNvPr id="39" name="Jason speaks icon" descr="preencoded.png">    </p:cNvPr>
          <p:cNvPicPr>
            <a:picLocks noChangeAspect="1"/>
          </p:cNvPicPr>
          <p:nvPr/>
        </p:nvPicPr>
        <p:blipFill>
          <a:blip r:embed="rId6"/>
          <a:stretch>
            <a:fillRect/>
          </a:stretch>
        </p:blipFill>
        <p:spPr>
          <a:xfrm>
            <a:off x="987552" y="5330952"/>
            <a:ext cx="356616" cy="356616"/>
          </a:xfrm>
          <a:prstGeom prst="rect">
            <a:avLst/>
          </a:prstGeom>
        </p:spPr>
      </p:pic>
      <p:sp>
        <p:nvSpPr>
          <p:cNvPr id="40" name="Text 32"/>
          <p:cNvSpPr txBox="1"/>
          <p:nvPr/>
        </p:nvSpPr>
        <p:spPr>
          <a:xfrm>
            <a:off x="1737360" y="4937760"/>
            <a:ext cx="9692640" cy="1143000"/>
          </a:xfrm>
          <a:prstGeom prst="rect">
            <a:avLst/>
          </a:prstGeom>
          <a:noFill/>
          <a:ln/>
        </p:spPr>
        <p:txBody>
          <a:bodyPr wrap="square" lIns="0" tIns="0" rIns="0" bIns="0" rtlCol="0" anchor="ctr"/>
          <a:lstStyle/>
          <a:p>
            <a:pPr indent="0" marL="0">
              <a:buNone/>
            </a:pPr>
            <a:r>
              <a:rPr lang="en-US" sz="1800" b="1" dirty="0">
                <a:solidFill>
                  <a:schemeClr val="tx1"/>
                </a:solidFill>
              </a:rPr>
              <a:t>新的公園規定讓遛狗變得很不方便，我希望可以重新考慮。</a:t>
            </a:r>
            <a:endParaRPr lang="en-US" sz="1500" dirty="0"/>
          </a:p>
          <a:p>
            <a:pPr indent="0" marL="0">
              <a:buNone/>
            </a:pPr>
            <a:r>
              <a:rPr lang="en-US" sz="1500" dirty="0">
                <a:solidFill>
                  <a:srgbClr val="5B5470"/>
                </a:solidFill>
              </a:rPr>
              <a:t>"The new park rule makes walking my dog really inconvenient. I hope it can be reconsidered."  →  sent to Parks &amp; Open Space</a:t>
            </a:r>
            <a:endParaRPr lang="en-US" sz="15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Understand it, then say it in your own words</a:t>
            </a:r>
            <a:endParaRPr lang="en-US" sz="3400" dirty="0"/>
          </a:p>
        </p:txBody>
      </p:sp>
      <p:pic>
        <p:nvPicPr>
          <p:cNvPr id="3" name="Plain-language summary screen" descr="Plain-language summary screen">    </p:cNvPr>
          <p:cNvPicPr>
            <a:picLocks noChangeAspect="1"/>
          </p:cNvPicPr>
          <p:nvPr/>
        </p:nvPicPr>
        <p:blipFill>
          <a:blip r:embed="rId1"/>
          <a:stretch>
            <a:fillRect/>
          </a:stretch>
        </p:blipFill>
        <p:spPr>
          <a:xfrm>
            <a:off x="548640" y="1282510"/>
            <a:ext cx="5760720" cy="3607180"/>
          </a:xfrm>
          <a:prstGeom prst="rect">
            <a:avLst/>
          </a:prstGeom>
        </p:spPr>
      </p:pic>
      <p:pic>
        <p:nvPicPr>
          <p:cNvPr id="4" name="Structured comment screen" descr="Structured comment screen">    </p:cNvPr>
          <p:cNvPicPr>
            <a:picLocks noChangeAspect="1"/>
          </p:cNvPicPr>
          <p:nvPr/>
        </p:nvPicPr>
        <p:blipFill>
          <a:blip r:embed="rId2"/>
          <a:stretch>
            <a:fillRect/>
          </a:stretch>
        </p:blipFill>
        <p:spPr>
          <a:xfrm>
            <a:off x="5852160" y="2745550"/>
            <a:ext cx="5760720" cy="3607180"/>
          </a:xfrm>
          <a:prstGeom prst="rect">
            <a:avLst/>
          </a:prstGeom>
        </p:spPr>
      </p:pic>
      <p:sp>
        <p:nvSpPr>
          <p:cNvPr id="5" name="point 1 circle"/>
          <p:cNvSpPr/>
          <p:nvPr/>
        </p:nvSpPr>
        <p:spPr>
          <a:xfrm>
            <a:off x="548640" y="4983480"/>
            <a:ext cx="384048" cy="384048"/>
          </a:xfrm>
          <a:prstGeom prst="ellipse">
            <a:avLst/>
          </a:prstGeom>
          <a:solidFill>
            <a:srgbClr val="F28C28"/>
          </a:solidFill>
          <a:ln w="12700">
            <a:solidFill>
              <a:srgbClr val="F28C28"/>
            </a:solidFill>
            <a:prstDash val="solid"/>
          </a:ln>
        </p:spPr>
      </p:sp>
      <p:pic>
        <p:nvPicPr>
          <p:cNvPr id="6" name="point 1 icon" descr="preencoded.png">    </p:cNvPr>
          <p:cNvPicPr>
            <a:picLocks noChangeAspect="1"/>
          </p:cNvPicPr>
          <p:nvPr/>
        </p:nvPicPr>
        <p:blipFill>
          <a:blip r:embed="rId3"/>
          <a:stretch>
            <a:fillRect/>
          </a:stretch>
        </p:blipFill>
        <p:spPr>
          <a:xfrm>
            <a:off x="640812" y="5075652"/>
            <a:ext cx="199705" cy="199705"/>
          </a:xfrm>
          <a:prstGeom prst="rect">
            <a:avLst/>
          </a:prstGeom>
        </p:spPr>
      </p:pic>
      <p:sp>
        <p:nvSpPr>
          <p:cNvPr id="7" name="Text 2"/>
          <p:cNvSpPr txBox="1"/>
          <p:nvPr/>
        </p:nvSpPr>
        <p:spPr>
          <a:xfrm>
            <a:off x="1051560" y="4983480"/>
            <a:ext cx="4754880" cy="384048"/>
          </a:xfrm>
          <a:prstGeom prst="rect">
            <a:avLst/>
          </a:prstGeom>
          <a:noFill/>
          <a:ln/>
        </p:spPr>
        <p:txBody>
          <a:bodyPr wrap="square" lIns="0" tIns="0" rIns="0" bIns="0" rtlCol="0" anchor="ctr"/>
          <a:lstStyle/>
          <a:p>
            <a:pPr indent="0" marL="0">
              <a:buNone/>
            </a:pPr>
            <a:r>
              <a:rPr lang="en-US" sz="1400" b="1" dirty="0">
                <a:solidFill>
                  <a:schemeClr val="tx1"/>
                </a:solidFill>
              </a:rPr>
              <a:t>Plain-language summaries: </a:t>
            </a:r>
            <a:pPr indent="0" marL="0">
              <a:buNone/>
            </a:pPr>
            <a:r>
              <a:rPr lang="en-US" sz="1400" dirty="0">
                <a:solidFill>
                  <a:schemeClr val="tx1"/>
                </a:solidFill>
              </a:rPr>
              <a:t>Policy text rewritten simply, with key terms explained (R1).</a:t>
            </a:r>
            <a:endParaRPr lang="en-US" sz="1400" dirty="0"/>
          </a:p>
        </p:txBody>
      </p:sp>
      <p:sp>
        <p:nvSpPr>
          <p:cNvPr id="8" name="point 2 circle"/>
          <p:cNvSpPr/>
          <p:nvPr/>
        </p:nvSpPr>
        <p:spPr>
          <a:xfrm>
            <a:off x="548640" y="5458968"/>
            <a:ext cx="384048" cy="384048"/>
          </a:xfrm>
          <a:prstGeom prst="ellipse">
            <a:avLst/>
          </a:prstGeom>
          <a:solidFill>
            <a:srgbClr val="7B4B94"/>
          </a:solidFill>
          <a:ln w="12700">
            <a:solidFill>
              <a:srgbClr val="7B4B94"/>
            </a:solidFill>
            <a:prstDash val="solid"/>
          </a:ln>
        </p:spPr>
      </p:sp>
      <p:pic>
        <p:nvPicPr>
          <p:cNvPr id="9" name="point 2 icon" descr="preencoded.png">    </p:cNvPr>
          <p:cNvPicPr>
            <a:picLocks noChangeAspect="1"/>
          </p:cNvPicPr>
          <p:nvPr/>
        </p:nvPicPr>
        <p:blipFill>
          <a:blip r:embed="rId4"/>
          <a:stretch>
            <a:fillRect/>
          </a:stretch>
        </p:blipFill>
        <p:spPr>
          <a:xfrm>
            <a:off x="640812" y="5551140"/>
            <a:ext cx="199705" cy="199705"/>
          </a:xfrm>
          <a:prstGeom prst="rect">
            <a:avLst/>
          </a:prstGeom>
        </p:spPr>
      </p:pic>
      <p:sp>
        <p:nvSpPr>
          <p:cNvPr id="10" name="Text 4"/>
          <p:cNvSpPr txBox="1"/>
          <p:nvPr/>
        </p:nvSpPr>
        <p:spPr>
          <a:xfrm>
            <a:off x="1051560" y="5458968"/>
            <a:ext cx="4754880" cy="384048"/>
          </a:xfrm>
          <a:prstGeom prst="rect">
            <a:avLst/>
          </a:prstGeom>
          <a:noFill/>
          <a:ln/>
        </p:spPr>
        <p:txBody>
          <a:bodyPr wrap="square" lIns="0" tIns="0" rIns="0" bIns="0" rtlCol="0" anchor="ctr"/>
          <a:lstStyle/>
          <a:p>
            <a:pPr indent="0" marL="0">
              <a:buNone/>
            </a:pPr>
            <a:r>
              <a:rPr lang="en-US" sz="1400" b="1" dirty="0">
                <a:solidFill>
                  <a:schemeClr val="tx1"/>
                </a:solidFill>
              </a:rPr>
              <a:t>Speak to Spud: </a:t>
            </a:r>
            <a:pPr indent="0" marL="0">
              <a:buNone/>
            </a:pPr>
            <a:r>
              <a:rPr lang="en-US" sz="1400" dirty="0">
                <a:solidFill>
                  <a:schemeClr val="tx1"/>
                </a:solidFill>
              </a:rPr>
              <a:t>Residents speak in their own language; typing is an alternative (R8).</a:t>
            </a:r>
            <a:endParaRPr lang="en-US" sz="1400" dirty="0"/>
          </a:p>
        </p:txBody>
      </p:sp>
      <p:sp>
        <p:nvSpPr>
          <p:cNvPr id="11" name="point 3 circle"/>
          <p:cNvSpPr/>
          <p:nvPr/>
        </p:nvSpPr>
        <p:spPr>
          <a:xfrm>
            <a:off x="548640" y="5934456"/>
            <a:ext cx="384048" cy="384048"/>
          </a:xfrm>
          <a:prstGeom prst="ellipse">
            <a:avLst/>
          </a:prstGeom>
          <a:solidFill>
            <a:srgbClr val="16707F"/>
          </a:solidFill>
          <a:ln w="12700">
            <a:solidFill>
              <a:srgbClr val="16707F"/>
            </a:solidFill>
            <a:prstDash val="solid"/>
          </a:ln>
        </p:spPr>
      </p:sp>
      <p:pic>
        <p:nvPicPr>
          <p:cNvPr id="12" name="point 3 icon" descr="preencoded.png">    </p:cNvPr>
          <p:cNvPicPr>
            <a:picLocks noChangeAspect="1"/>
          </p:cNvPicPr>
          <p:nvPr/>
        </p:nvPicPr>
        <p:blipFill>
          <a:blip r:embed="rId5"/>
          <a:stretch>
            <a:fillRect/>
          </a:stretch>
        </p:blipFill>
        <p:spPr>
          <a:xfrm>
            <a:off x="640812" y="6026628"/>
            <a:ext cx="199705" cy="199705"/>
          </a:xfrm>
          <a:prstGeom prst="rect">
            <a:avLst/>
          </a:prstGeom>
        </p:spPr>
      </p:pic>
      <p:sp>
        <p:nvSpPr>
          <p:cNvPr id="13" name="Text 6"/>
          <p:cNvSpPr txBox="1"/>
          <p:nvPr/>
        </p:nvSpPr>
        <p:spPr>
          <a:xfrm>
            <a:off x="1051560" y="5934456"/>
            <a:ext cx="4754880" cy="384048"/>
          </a:xfrm>
          <a:prstGeom prst="rect">
            <a:avLst/>
          </a:prstGeom>
          <a:noFill/>
          <a:ln/>
        </p:spPr>
        <p:txBody>
          <a:bodyPr wrap="square" lIns="0" tIns="0" rIns="0" bIns="0" rtlCol="0" anchor="ctr"/>
          <a:lstStyle/>
          <a:p>
            <a:pPr indent="0" marL="0">
              <a:buNone/>
            </a:pPr>
            <a:r>
              <a:rPr lang="en-US" sz="1400" b="1" dirty="0">
                <a:solidFill>
                  <a:schemeClr val="tx1"/>
                </a:solidFill>
              </a:rPr>
              <a:t>Review before sending: </a:t>
            </a:r>
            <a:pPr indent="0" marL="0">
              <a:buNone/>
            </a:pPr>
            <a:r>
              <a:rPr lang="en-US" sz="1400" dirty="0">
                <a:solidFill>
                  <a:schemeClr val="tx1"/>
                </a:solidFill>
              </a:rPr>
              <a:t>Original + English side by side, with the responsible department (R4).</a:t>
            </a:r>
            <a:endParaRPr lang="en-US" sz="1400" dirty="0"/>
          </a:p>
        </p:txBody>
      </p:sp>
      <p:sp>
        <p:nvSpPr>
          <p:cNvPr id="14" name="Text 7"/>
          <p:cNvSpPr txBox="1"/>
          <p:nvPr/>
        </p:nvSpPr>
        <p:spPr>
          <a:xfrm>
            <a:off x="5852160" y="1417320"/>
            <a:ext cx="5760720" cy="320040"/>
          </a:xfrm>
          <a:prstGeom prst="rect">
            <a:avLst/>
          </a:prstGeom>
          <a:noFill/>
          <a:ln/>
        </p:spPr>
        <p:txBody>
          <a:bodyPr wrap="square" lIns="0" tIns="0" rIns="0" bIns="0" rtlCol="0" anchor="t"/>
          <a:lstStyle/>
          <a:p>
            <a:pPr algn="r" indent="0" marL="0">
              <a:buNone/>
            </a:pPr>
            <a:r>
              <a:rPr lang="en-US" sz="1200" i="1" dirty="0">
                <a:solidFill>
                  <a:srgbClr val="E0544B"/>
                </a:solidFill>
              </a:rPr>
              <a:t>Content shown is a fictional example</a:t>
            </a:r>
            <a:endParaRPr lang="en-US" sz="12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Take it home, track it, collect badges</a:t>
            </a:r>
            <a:endParaRPr lang="en-US" sz="3400" dirty="0"/>
          </a:p>
        </p:txBody>
      </p:sp>
      <p:pic>
        <p:nvPicPr>
          <p:cNvPr id="3" name="Phone tapping the NFC pad" descr="Phone tapping the NFC pad">    </p:cNvPr>
          <p:cNvPicPr>
            <a:picLocks noChangeAspect="1"/>
          </p:cNvPicPr>
          <p:nvPr/>
        </p:nvPicPr>
        <p:blipFill>
          <a:blip r:embed="rId1"/>
          <a:stretch>
            <a:fillRect/>
          </a:stretch>
        </p:blipFill>
        <p:spPr>
          <a:xfrm>
            <a:off x="457200" y="1340168"/>
            <a:ext cx="2651760" cy="3811905"/>
          </a:xfrm>
          <a:prstGeom prst="rect">
            <a:avLst/>
          </a:prstGeom>
        </p:spPr>
      </p:pic>
      <p:pic>
        <p:nvPicPr>
          <p:cNvPr id="4" name="Tracker in the HearHere app" descr="Tracker in the HearHere app">    </p:cNvPr>
          <p:cNvPicPr>
            <a:picLocks noChangeAspect="1"/>
          </p:cNvPicPr>
          <p:nvPr/>
        </p:nvPicPr>
        <p:blipFill>
          <a:blip r:embed="rId2"/>
          <a:stretch>
            <a:fillRect/>
          </a:stretch>
        </p:blipFill>
        <p:spPr>
          <a:xfrm>
            <a:off x="3339548" y="1234440"/>
            <a:ext cx="2099144" cy="4023360"/>
          </a:xfrm>
          <a:prstGeom prst="rect">
            <a:avLst/>
          </a:prstGeom>
        </p:spPr>
      </p:pic>
      <p:pic>
        <p:nvPicPr>
          <p:cNvPr id="5" name="Outcome examples" descr="Outcome examples">    </p:cNvPr>
          <p:cNvPicPr>
            <a:picLocks noChangeAspect="1"/>
          </p:cNvPicPr>
          <p:nvPr/>
        </p:nvPicPr>
        <p:blipFill>
          <a:blip r:embed="rId3"/>
          <a:stretch>
            <a:fillRect/>
          </a:stretch>
        </p:blipFill>
        <p:spPr>
          <a:xfrm>
            <a:off x="5852160" y="1400002"/>
            <a:ext cx="2834640" cy="1589116"/>
          </a:xfrm>
          <a:prstGeom prst="rect">
            <a:avLst/>
          </a:prstGeom>
        </p:spPr>
      </p:pic>
      <p:pic>
        <p:nvPicPr>
          <p:cNvPr id="6" name="Badge collection" descr="Badge collection">    </p:cNvPr>
          <p:cNvPicPr>
            <a:picLocks noChangeAspect="1"/>
          </p:cNvPicPr>
          <p:nvPr/>
        </p:nvPicPr>
        <p:blipFill>
          <a:blip r:embed="rId4"/>
          <a:stretch>
            <a:fillRect/>
          </a:stretch>
        </p:blipFill>
        <p:spPr>
          <a:xfrm>
            <a:off x="8869680" y="1312025"/>
            <a:ext cx="2834640" cy="2405149"/>
          </a:xfrm>
          <a:prstGeom prst="rect">
            <a:avLst/>
          </a:prstGeom>
        </p:spPr>
      </p:pic>
      <p:sp>
        <p:nvSpPr>
          <p:cNvPr id="7" name="feature card 1"/>
          <p:cNvSpPr/>
          <p:nvPr/>
        </p:nvSpPr>
        <p:spPr>
          <a:xfrm>
            <a:off x="548640" y="5349240"/>
            <a:ext cx="3520440" cy="914400"/>
          </a:xfrm>
          <a:prstGeom prst="roundRect">
            <a:avLst>
              <a:gd name="adj" fmla="val 120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8" name="NFC hand-off circle"/>
          <p:cNvSpPr/>
          <p:nvPr/>
        </p:nvSpPr>
        <p:spPr>
          <a:xfrm>
            <a:off x="731520" y="5577840"/>
            <a:ext cx="457200" cy="457200"/>
          </a:xfrm>
          <a:prstGeom prst="ellipse">
            <a:avLst/>
          </a:prstGeom>
          <a:solidFill>
            <a:srgbClr val="16707F"/>
          </a:solidFill>
          <a:ln w="12700">
            <a:solidFill>
              <a:srgbClr val="16707F"/>
            </a:solidFill>
            <a:prstDash val="solid"/>
          </a:ln>
        </p:spPr>
      </p:sp>
      <p:pic>
        <p:nvPicPr>
          <p:cNvPr id="9" name="NFC hand-off icon" descr="preencoded.png">    </p:cNvPr>
          <p:cNvPicPr>
            <a:picLocks noChangeAspect="1"/>
          </p:cNvPicPr>
          <p:nvPr/>
        </p:nvPicPr>
        <p:blipFill>
          <a:blip r:embed="rId5"/>
          <a:stretch>
            <a:fillRect/>
          </a:stretch>
        </p:blipFill>
        <p:spPr>
          <a:xfrm>
            <a:off x="841248" y="5687568"/>
            <a:ext cx="237744" cy="237744"/>
          </a:xfrm>
          <a:prstGeom prst="rect">
            <a:avLst/>
          </a:prstGeom>
        </p:spPr>
      </p:pic>
      <p:sp>
        <p:nvSpPr>
          <p:cNvPr id="10" name="Text 3"/>
          <p:cNvSpPr txBox="1"/>
          <p:nvPr/>
        </p:nvSpPr>
        <p:spPr>
          <a:xfrm>
            <a:off x="1325880" y="5413248"/>
            <a:ext cx="2651760" cy="804672"/>
          </a:xfrm>
          <a:prstGeom prst="rect">
            <a:avLst/>
          </a:prstGeom>
          <a:noFill/>
          <a:ln/>
        </p:spPr>
        <p:txBody>
          <a:bodyPr wrap="square" lIns="0" tIns="0" rIns="0" bIns="0" rtlCol="0" anchor="ctr"/>
          <a:lstStyle/>
          <a:p>
            <a:pPr indent="0" marL="0">
              <a:buNone/>
            </a:pPr>
            <a:r>
              <a:rPr lang="en-US" sz="1500" b="1" dirty="0">
                <a:solidFill>
                  <a:schemeClr val="tx1"/>
                </a:solidFill>
              </a:rPr>
              <a:t>NFC hand-off</a:t>
            </a:r>
            <a:endParaRPr lang="en-US" sz="1500" dirty="0"/>
          </a:p>
          <a:p>
            <a:pPr indent="0" marL="0">
              <a:buNone/>
            </a:pPr>
            <a:r>
              <a:rPr lang="en-US" sz="1200" dirty="0">
                <a:solidFill>
                  <a:schemeClr val="tx1"/>
                </a:solidFill>
              </a:rPr>
              <a:t>The post keeps nothing; tracking starts only if Jason opts in (R6).</a:t>
            </a:r>
            <a:endParaRPr lang="en-US" sz="1500" dirty="0"/>
          </a:p>
        </p:txBody>
      </p:sp>
      <p:sp>
        <p:nvSpPr>
          <p:cNvPr id="11" name="feature card 2"/>
          <p:cNvSpPr/>
          <p:nvPr/>
        </p:nvSpPr>
        <p:spPr>
          <a:xfrm>
            <a:off x="4297680" y="5349240"/>
            <a:ext cx="3520440" cy="914400"/>
          </a:xfrm>
          <a:prstGeom prst="roundRect">
            <a:avLst>
              <a:gd name="adj" fmla="val 120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2" name="Progress tracker circle"/>
          <p:cNvSpPr/>
          <p:nvPr/>
        </p:nvSpPr>
        <p:spPr>
          <a:xfrm>
            <a:off x="4480560" y="5577840"/>
            <a:ext cx="457200" cy="457200"/>
          </a:xfrm>
          <a:prstGeom prst="ellipse">
            <a:avLst/>
          </a:prstGeom>
          <a:solidFill>
            <a:srgbClr val="7B4B94"/>
          </a:solidFill>
          <a:ln w="12700">
            <a:solidFill>
              <a:srgbClr val="7B4B94"/>
            </a:solidFill>
            <a:prstDash val="solid"/>
          </a:ln>
        </p:spPr>
      </p:sp>
      <p:pic>
        <p:nvPicPr>
          <p:cNvPr id="13" name="Progress tracker icon" descr="preencoded.png">    </p:cNvPr>
          <p:cNvPicPr>
            <a:picLocks noChangeAspect="1"/>
          </p:cNvPicPr>
          <p:nvPr/>
        </p:nvPicPr>
        <p:blipFill>
          <a:blip r:embed="rId6"/>
          <a:stretch>
            <a:fillRect/>
          </a:stretch>
        </p:blipFill>
        <p:spPr>
          <a:xfrm>
            <a:off x="4590288" y="5687568"/>
            <a:ext cx="237744" cy="237744"/>
          </a:xfrm>
          <a:prstGeom prst="rect">
            <a:avLst/>
          </a:prstGeom>
        </p:spPr>
      </p:pic>
      <p:sp>
        <p:nvSpPr>
          <p:cNvPr id="14" name="Text 6"/>
          <p:cNvSpPr txBox="1"/>
          <p:nvPr/>
        </p:nvSpPr>
        <p:spPr>
          <a:xfrm>
            <a:off x="5074920" y="5413248"/>
            <a:ext cx="2651760" cy="804672"/>
          </a:xfrm>
          <a:prstGeom prst="rect">
            <a:avLst/>
          </a:prstGeom>
          <a:noFill/>
          <a:ln/>
        </p:spPr>
        <p:txBody>
          <a:bodyPr wrap="square" lIns="0" tIns="0" rIns="0" bIns="0" rtlCol="0" anchor="ctr"/>
          <a:lstStyle/>
          <a:p>
            <a:pPr indent="0" marL="0">
              <a:buNone/>
            </a:pPr>
            <a:r>
              <a:rPr lang="en-US" sz="1500" b="1" dirty="0">
                <a:solidFill>
                  <a:schemeClr val="tx1"/>
                </a:solidFill>
              </a:rPr>
              <a:t>Progress tracker</a:t>
            </a:r>
            <a:endParaRPr lang="en-US" sz="1500" dirty="0"/>
          </a:p>
          <a:p>
            <a:pPr indent="0" marL="0">
              <a:buNone/>
            </a:pPr>
            <a:r>
              <a:rPr lang="en-US" sz="1200" dirty="0">
                <a:solidFill>
                  <a:schemeClr val="tx1"/>
                </a:solidFill>
              </a:rPr>
              <a:t>Received → In review → Outcome, with a case number or reasons (R5).</a:t>
            </a:r>
            <a:endParaRPr lang="en-US" sz="1500" dirty="0"/>
          </a:p>
        </p:txBody>
      </p:sp>
      <p:sp>
        <p:nvSpPr>
          <p:cNvPr id="15" name="feature card 3"/>
          <p:cNvSpPr/>
          <p:nvPr/>
        </p:nvSpPr>
        <p:spPr>
          <a:xfrm>
            <a:off x="8046720" y="5349240"/>
            <a:ext cx="3520440" cy="914400"/>
          </a:xfrm>
          <a:prstGeom prst="roundRect">
            <a:avLst>
              <a:gd name="adj" fmla="val 120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6" name="Badges circle"/>
          <p:cNvSpPr/>
          <p:nvPr/>
        </p:nvSpPr>
        <p:spPr>
          <a:xfrm>
            <a:off x="8229600" y="5577840"/>
            <a:ext cx="457200" cy="457200"/>
          </a:xfrm>
          <a:prstGeom prst="ellipse">
            <a:avLst/>
          </a:prstGeom>
          <a:solidFill>
            <a:srgbClr val="F28C28"/>
          </a:solidFill>
          <a:ln w="12700">
            <a:solidFill>
              <a:srgbClr val="F28C28"/>
            </a:solidFill>
            <a:prstDash val="solid"/>
          </a:ln>
        </p:spPr>
      </p:sp>
      <p:pic>
        <p:nvPicPr>
          <p:cNvPr id="17" name="Badges icon" descr="preencoded.png">    </p:cNvPr>
          <p:cNvPicPr>
            <a:picLocks noChangeAspect="1"/>
          </p:cNvPicPr>
          <p:nvPr/>
        </p:nvPicPr>
        <p:blipFill>
          <a:blip r:embed="rId7"/>
          <a:stretch>
            <a:fillRect/>
          </a:stretch>
        </p:blipFill>
        <p:spPr>
          <a:xfrm>
            <a:off x="8339328" y="5687568"/>
            <a:ext cx="237744" cy="237744"/>
          </a:xfrm>
          <a:prstGeom prst="rect">
            <a:avLst/>
          </a:prstGeom>
        </p:spPr>
      </p:pic>
      <p:sp>
        <p:nvSpPr>
          <p:cNvPr id="18" name="Text 9"/>
          <p:cNvSpPr txBox="1"/>
          <p:nvPr/>
        </p:nvSpPr>
        <p:spPr>
          <a:xfrm>
            <a:off x="8823960" y="5413248"/>
            <a:ext cx="2651760" cy="804672"/>
          </a:xfrm>
          <a:prstGeom prst="rect">
            <a:avLst/>
          </a:prstGeom>
          <a:noFill/>
          <a:ln/>
        </p:spPr>
        <p:txBody>
          <a:bodyPr wrap="square" lIns="0" tIns="0" rIns="0" bIns="0" rtlCol="0" anchor="ctr"/>
          <a:lstStyle/>
          <a:p>
            <a:pPr indent="0" marL="0">
              <a:buNone/>
            </a:pPr>
            <a:r>
              <a:rPr lang="en-US" sz="1500" b="1" dirty="0">
                <a:solidFill>
                  <a:schemeClr val="tx1"/>
                </a:solidFill>
              </a:rPr>
              <a:t>Badges</a:t>
            </a:r>
            <a:endParaRPr lang="en-US" sz="1500" dirty="0"/>
          </a:p>
          <a:p>
            <a:pPr indent="0" marL="0">
              <a:buNone/>
            </a:pPr>
            <a:r>
              <a:rPr lang="en-US" sz="1200" dirty="0">
                <a:solidFill>
                  <a:schemeClr val="tx1"/>
                </a:solidFill>
              </a:rPr>
              <a:t>One badge per post visited, stored only on the phone, to encourage return visits.</a:t>
            </a:r>
            <a:endParaRPr lang="en-US" sz="1500" dirty="0"/>
          </a:p>
        </p:txBody>
      </p:sp>
      <p:sp>
        <p:nvSpPr>
          <p:cNvPr id="19" name="Text 10"/>
          <p:cNvSpPr txBox="1"/>
          <p:nvPr/>
        </p:nvSpPr>
        <p:spPr>
          <a:xfrm>
            <a:off x="5852160" y="3246120"/>
            <a:ext cx="2834640" cy="640080"/>
          </a:xfrm>
          <a:prstGeom prst="rect">
            <a:avLst/>
          </a:prstGeom>
          <a:noFill/>
          <a:ln/>
        </p:spPr>
        <p:txBody>
          <a:bodyPr wrap="square" lIns="0" tIns="0" rIns="0" bIns="0" rtlCol="0" anchor="t"/>
          <a:lstStyle/>
          <a:p>
            <a:pPr indent="0" marL="0">
              <a:buNone/>
            </a:pPr>
            <a:r>
              <a:rPr lang="en-US" sz="1200" i="1" dirty="0">
                <a:solidFill>
                  <a:srgbClr val="5B5470"/>
                </a:solidFill>
              </a:rPr>
              <a:t>Status of the issue, not a promise the comment is accepted</a:t>
            </a:r>
            <a:endParaRPr lang="en-US" sz="12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One post, three connected channels</a:t>
            </a:r>
            <a:endParaRPr lang="en-US" sz="3400" dirty="0"/>
          </a:p>
        </p:txBody>
      </p:sp>
      <p:pic>
        <p:nvPicPr>
          <p:cNvPr id="3" name="Official social media, AI agent and app cards" descr="Official social media, AI agent and app cards">    </p:cNvPr>
          <p:cNvPicPr>
            <a:picLocks noChangeAspect="1"/>
          </p:cNvPicPr>
          <p:nvPr/>
        </p:nvPicPr>
        <p:blipFill>
          <a:blip r:embed="rId1"/>
          <a:stretch>
            <a:fillRect/>
          </a:stretch>
        </p:blipFill>
        <p:spPr>
          <a:xfrm>
            <a:off x="548640" y="1405269"/>
            <a:ext cx="11064240" cy="2675862"/>
          </a:xfrm>
          <a:prstGeom prst="rect">
            <a:avLst/>
          </a:prstGeom>
        </p:spPr>
      </p:pic>
      <p:sp>
        <p:nvSpPr>
          <p:cNvPr id="4" name="Text 1"/>
          <p:cNvSpPr txBox="1"/>
          <p:nvPr/>
        </p:nvSpPr>
        <p:spPr>
          <a:xfrm>
            <a:off x="3849624" y="2496312"/>
            <a:ext cx="365760" cy="548640"/>
          </a:xfrm>
          <a:prstGeom prst="rect">
            <a:avLst/>
          </a:prstGeom>
          <a:noFill/>
          <a:ln/>
        </p:spPr>
        <p:txBody>
          <a:bodyPr wrap="square" lIns="0" tIns="0" rIns="0" bIns="0" rtlCol="0" anchor="ctr"/>
          <a:lstStyle/>
          <a:p>
            <a:pPr algn="ctr" indent="0" marL="0">
              <a:buNone/>
            </a:pPr>
            <a:r>
              <a:rPr lang="en-US" sz="3600" b="1" dirty="0">
                <a:solidFill>
                  <a:srgbClr val="7B4B94"/>
                </a:solidFill>
              </a:rPr>
              <a:t>+</a:t>
            </a:r>
            <a:endParaRPr lang="en-US" sz="3600" dirty="0"/>
          </a:p>
        </p:txBody>
      </p:sp>
      <p:sp>
        <p:nvSpPr>
          <p:cNvPr id="5" name="Text 2"/>
          <p:cNvSpPr txBox="1"/>
          <p:nvPr/>
        </p:nvSpPr>
        <p:spPr>
          <a:xfrm>
            <a:off x="7552944" y="2496312"/>
            <a:ext cx="365760" cy="548640"/>
          </a:xfrm>
          <a:prstGeom prst="rect">
            <a:avLst/>
          </a:prstGeom>
          <a:noFill/>
          <a:ln/>
        </p:spPr>
        <p:txBody>
          <a:bodyPr wrap="square" lIns="0" tIns="0" rIns="0" bIns="0" rtlCol="0" anchor="ctr"/>
          <a:lstStyle/>
          <a:p>
            <a:pPr algn="ctr" indent="0" marL="0">
              <a:buNone/>
            </a:pPr>
            <a:r>
              <a:rPr lang="en-US" sz="3600" b="1" dirty="0">
                <a:solidFill>
                  <a:srgbClr val="7B4B94"/>
                </a:solidFill>
              </a:rPr>
              <a:t>+</a:t>
            </a:r>
            <a:endParaRPr lang="en-US" sz="3600" dirty="0"/>
          </a:p>
        </p:txBody>
      </p:sp>
      <p:sp>
        <p:nvSpPr>
          <p:cNvPr id="6" name="theme 5 card"/>
          <p:cNvSpPr/>
          <p:nvPr/>
        </p:nvSpPr>
        <p:spPr>
          <a:xfrm>
            <a:off x="548640" y="4434840"/>
            <a:ext cx="6949440" cy="1691640"/>
          </a:xfrm>
          <a:prstGeom prst="roundRect">
            <a:avLst>
              <a:gd name="adj" fmla="val 6486"/>
            </a:avLst>
          </a:prstGeom>
          <a:solidFill>
            <a:srgbClr val="FFF3E6"/>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7" name="theme 5 circle"/>
          <p:cNvSpPr/>
          <p:nvPr/>
        </p:nvSpPr>
        <p:spPr>
          <a:xfrm>
            <a:off x="777240" y="4663440"/>
            <a:ext cx="548640" cy="548640"/>
          </a:xfrm>
          <a:prstGeom prst="ellipse">
            <a:avLst/>
          </a:prstGeom>
          <a:solidFill>
            <a:srgbClr val="F28C28"/>
          </a:solidFill>
          <a:ln w="12700">
            <a:solidFill>
              <a:srgbClr val="F28C28"/>
            </a:solidFill>
            <a:prstDash val="solid"/>
          </a:ln>
        </p:spPr>
      </p:sp>
      <p:pic>
        <p:nvPicPr>
          <p:cNvPr id="8" name="theme 5 icon" descr="preencoded.png">    </p:cNvPr>
          <p:cNvPicPr>
            <a:picLocks noChangeAspect="1"/>
          </p:cNvPicPr>
          <p:nvPr/>
        </p:nvPicPr>
        <p:blipFill>
          <a:blip r:embed="rId2"/>
          <a:stretch>
            <a:fillRect/>
          </a:stretch>
        </p:blipFill>
        <p:spPr>
          <a:xfrm>
            <a:off x="908914" y="4795114"/>
            <a:ext cx="285293" cy="285293"/>
          </a:xfrm>
          <a:prstGeom prst="rect">
            <a:avLst/>
          </a:prstGeom>
        </p:spPr>
      </p:pic>
      <p:sp>
        <p:nvSpPr>
          <p:cNvPr id="9" name="Text 5"/>
          <p:cNvSpPr txBox="1"/>
          <p:nvPr/>
        </p:nvSpPr>
        <p:spPr>
          <a:xfrm>
            <a:off x="1508760" y="4572000"/>
            <a:ext cx="5806440" cy="1463040"/>
          </a:xfrm>
          <a:prstGeom prst="rect">
            <a:avLst/>
          </a:prstGeom>
          <a:noFill/>
          <a:ln/>
        </p:spPr>
        <p:txBody>
          <a:bodyPr wrap="square" lIns="0" tIns="0" rIns="0" bIns="0" rtlCol="0" anchor="ctr"/>
          <a:lstStyle/>
          <a:p>
            <a:pPr indent="0" marL="0">
              <a:buNone/>
            </a:pPr>
            <a:r>
              <a:rPr lang="en-US" sz="1500" b="1" dirty="0">
                <a:solidFill>
                  <a:schemeClr val="tx1"/>
                </a:solidFill>
              </a:rPr>
              <a:t>Responds to Theme 5</a:t>
            </a:r>
            <a:endParaRPr lang="en-US" sz="1500" dirty="0"/>
          </a:p>
          <a:p>
            <a:pPr indent="0" marL="0">
              <a:buNone/>
            </a:pPr>
            <a:r>
              <a:rPr lang="en-US" sz="1500" dirty="0">
                <a:solidFill>
                  <a:schemeClr val="tx1"/>
                </a:solidFill>
              </a:rPr>
              <a:t>Council news goes out by mail and flyers, but newer residents rely on Instagram and friends. HearHere meets them on the channels they already use.</a:t>
            </a:r>
            <a:endParaRPr lang="en-US" sz="1500" dirty="0"/>
          </a:p>
        </p:txBody>
      </p:sp>
      <p:sp>
        <p:nvSpPr>
          <p:cNvPr id="10" name="verified card"/>
          <p:cNvSpPr/>
          <p:nvPr/>
        </p:nvSpPr>
        <p:spPr>
          <a:xfrm>
            <a:off x="7772400" y="4434840"/>
            <a:ext cx="3840480" cy="1691640"/>
          </a:xfrm>
          <a:prstGeom prst="roundRect">
            <a:avLst>
              <a:gd name="adj" fmla="val 6486"/>
            </a:avLst>
          </a:prstGeom>
          <a:solidFill>
            <a:srgbClr val="E8F4F6"/>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1" name="Text 7"/>
          <p:cNvSpPr txBox="1"/>
          <p:nvPr/>
        </p:nvSpPr>
        <p:spPr>
          <a:xfrm>
            <a:off x="8001000" y="4572000"/>
            <a:ext cx="3429000" cy="1463040"/>
          </a:xfrm>
          <a:prstGeom prst="rect">
            <a:avLst/>
          </a:prstGeom>
          <a:noFill/>
          <a:ln/>
        </p:spPr>
        <p:txBody>
          <a:bodyPr wrap="square" lIns="0" tIns="0" rIns="0" bIns="0" rtlCol="0" anchor="ctr"/>
          <a:lstStyle/>
          <a:p>
            <a:pPr indent="0" marL="0">
              <a:buNone/>
            </a:pPr>
            <a:r>
              <a:rPr lang="en-US" sz="1500" b="1" dirty="0">
                <a:solidFill>
                  <a:srgbClr val="16707F"/>
                </a:solidFill>
              </a:rPr>
              <a:t>Verified content only</a:t>
            </a:r>
            <a:endParaRPr lang="en-US" sz="1500" dirty="0"/>
          </a:p>
          <a:p>
            <a:pPr indent="0" marL="0">
              <a:buNone/>
            </a:pPr>
            <a:r>
              <a:rPr lang="en-US" sz="1500" dirty="0">
                <a:solidFill>
                  <a:schemeClr val="tx1"/>
                </a:solidFill>
              </a:rPr>
              <a:t>Spud's official account posts only verified council content, so fake accounts are easy to spot.</a:t>
            </a:r>
            <a:endParaRPr lang="en-US" sz="15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Every feature maps to a fieldwork requirement</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4343400"/>
                <a:gridCol w="4343400"/>
              </a:tblGrid>
              <a:tr h="512064">
                <a:tc>
                  <a:txBody>
                    <a:bodyPr/>
                    <a:lstStyle/>
                    <a:p>
                      <a:pPr indent="0" marL="0">
                        <a:buNone/>
                      </a:pPr>
                      <a:r>
                        <a:rPr lang="en-US" sz="1300" b="1" dirty="0">
                          <a:solidFill>
                            <a:srgbClr val="FFFFFF"/>
                          </a:solidFill>
                        </a:rPr>
                        <a:t>Requirement</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2E1F45"/>
                    </a:solidFill>
                  </a:tcPr>
                </a:tc>
                <a:tc>
                  <a:txBody>
                    <a:bodyPr/>
                    <a:lstStyle/>
                    <a:p>
                      <a:pPr indent="0" marL="0">
                        <a:buNone/>
                      </a:pPr>
                      <a:r>
                        <a:rPr lang="en-US" sz="1300" b="1" dirty="0">
                          <a:solidFill>
                            <a:srgbClr val="FFFFFF"/>
                          </a:solidFill>
                        </a:rPr>
                        <a:t>HearHere feature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2E1F45"/>
                    </a:solidFill>
                  </a:tcPr>
                </a:tc>
                <a:tc>
                  <a:txBody>
                    <a:bodyPr/>
                    <a:lstStyle/>
                    <a:p>
                      <a:pPr indent="0" marL="0">
                        <a:buNone/>
                      </a:pPr>
                      <a:r>
                        <a:rPr lang="en-US" sz="1300" b="1" dirty="0">
                          <a:solidFill>
                            <a:srgbClr val="FFFFFF"/>
                          </a:solidFill>
                        </a:rPr>
                        <a:t>Fieldwork evidence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2E1F45"/>
                    </a:solidFill>
                  </a:tcPr>
                </a:tc>
              </a:tr>
              <a:tr h="512064">
                <a:tc>
                  <a:txBody>
                    <a:bodyPr/>
                    <a:lstStyle/>
                    <a:p>
                      <a:pPr indent="0" marL="0">
                        <a:buNone/>
                      </a:pPr>
                      <a:r>
                        <a:rPr lang="en-US" sz="1300" dirty="0">
                          <a:solidFill>
                            <a:srgbClr val="241A33"/>
                          </a:solidFill>
                        </a:rPr>
                        <a:t>R1 Multilingual</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Plain-language summaries, speak in any language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Theme 1: translation alone doesn't explain terms (P3, P8)</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41A33"/>
                          </a:solidFill>
                        </a:rPr>
                        <a:t>R2 Personal relevance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Issues ranked by distance and closing date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Theme 3: people engage when it affects them (P1, P2, P7)</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41A33"/>
                          </a:solidFill>
                        </a:rPr>
                        <a:t>R3 Visibility</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Post on everyday routes; official social account</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Theme 5: mail and flyers miss newer residents (P5, P7)</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41A33"/>
                          </a:solidFill>
                        </a:rPr>
                        <a:t>R4 Q&amp;A support</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AI agent with cited sources; names the department</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Theme 4: unsure who to contact (P4)</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41A33"/>
                          </a:solidFill>
                        </a:rPr>
                        <a:t>R5 Trackable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Received → In review → Outcome tracker</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Theme 4: feedback felt ignored (P4, P6)</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41A33"/>
                          </a:solidFill>
                        </a:rPr>
                        <a:t>R6 Privacy</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No audio or records kept on the post; opt-in tracking</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Speaking in public may feel exposing</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41A33"/>
                          </a:solidFill>
                        </a:rPr>
                        <a:t>R7 Trustworthy</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Verified content only; sources shown</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Misinformation and impersonation risk</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41A33"/>
                          </a:solidFill>
                        </a:rPr>
                        <a:t>R8 Simple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Speak instead of type; one tap to save</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c>
                  <a:txBody>
                    <a:bodyPr/>
                    <a:lstStyle/>
                    <a:p>
                      <a:pPr indent="0" marL="0">
                        <a:buNone/>
                      </a:pPr>
                      <a:r>
                        <a:rPr lang="en-US" sz="1300" dirty="0">
                          <a:solidFill>
                            <a:srgbClr val="241A33"/>
                          </a:solidFill>
                        </a:rPr>
                        <a:t>Limited time (Theme 2)</a:t>
                      </a:r>
                      <a:endParaRPr lang="en-US" sz="1300" dirty="0"/>
                    </a:p>
                  </a:txBody>
                  <a:tcPr marL="109728" marR="109728" marT="36576" marB="36576" anchor="ctr">
                    <a:lnL w="9525" cap="flat" cmpd="sng" algn="ctr">
                      <a:solidFill>
                        <a:srgbClr val="E4DCEB"/>
                      </a:solidFill>
                      <a:prstDash val="solid"/>
                      <a:round/>
                      <a:headEnd type="none" w="med" len="med"/>
                      <a:tailEnd type="none" w="med" len="med"/>
                    </a:lnL>
                    <a:lnR w="9525" cap="flat" cmpd="sng" algn="ctr">
                      <a:solidFill>
                        <a:srgbClr val="E4DCEB"/>
                      </a:solidFill>
                      <a:prstDash val="solid"/>
                      <a:round/>
                      <a:headEnd type="none" w="med" len="med"/>
                      <a:tailEnd type="none" w="med" len="med"/>
                    </a:lnR>
                    <a:lnT w="9525" cap="flat" cmpd="sng" algn="ctr">
                      <a:solidFill>
                        <a:srgbClr val="E4DCEB"/>
                      </a:solidFill>
                      <a:prstDash val="solid"/>
                      <a:round/>
                      <a:headEnd type="none" w="med" len="med"/>
                      <a:tailEnd type="none" w="med" len="med"/>
                    </a:lnT>
                    <a:lnB w="9525" cap="flat" cmpd="sng" algn="ctr">
                      <a:solidFill>
                        <a:srgbClr val="E4DC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What HearHere changes for Jason</a:t>
            </a:r>
            <a:endParaRPr lang="en-US" sz="3400" dirty="0"/>
          </a:p>
        </p:txBody>
      </p:sp>
      <p:sp>
        <p:nvSpPr>
          <p:cNvPr id="3" name="Before card"/>
          <p:cNvSpPr/>
          <p:nvPr/>
        </p:nvSpPr>
        <p:spPr>
          <a:xfrm>
            <a:off x="548640" y="1325880"/>
            <a:ext cx="3657600" cy="4846320"/>
          </a:xfrm>
          <a:prstGeom prst="roundRect">
            <a:avLst>
              <a:gd name="adj" fmla="val 3000"/>
            </a:avLst>
          </a:prstGeom>
          <a:solidFill>
            <a:srgbClr val="FDECEA"/>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4" name="Text 2"/>
          <p:cNvSpPr txBox="1"/>
          <p:nvPr/>
        </p:nvSpPr>
        <p:spPr>
          <a:xfrm>
            <a:off x="868680" y="1554480"/>
            <a:ext cx="3017520" cy="502920"/>
          </a:xfrm>
          <a:prstGeom prst="rect">
            <a:avLst/>
          </a:prstGeom>
          <a:noFill/>
          <a:ln/>
        </p:spPr>
        <p:txBody>
          <a:bodyPr wrap="square" lIns="0" tIns="0" rIns="0" bIns="0" rtlCol="0" anchor="t"/>
          <a:lstStyle/>
          <a:p>
            <a:pPr indent="0" marL="0">
              <a:buNone/>
            </a:pPr>
            <a:r>
              <a:rPr lang="en-US" sz="2400" b="1" dirty="0">
                <a:solidFill>
                  <a:srgbClr val="E0544B"/>
                </a:solidFill>
              </a:rPr>
              <a:t>Before</a:t>
            </a:r>
            <a:endParaRPr lang="en-US" sz="2400" dirty="0"/>
          </a:p>
        </p:txBody>
      </p:sp>
      <p:sp>
        <p:nvSpPr>
          <p:cNvPr id="5" name="Text 3"/>
          <p:cNvSpPr txBox="1"/>
          <p:nvPr/>
        </p:nvSpPr>
        <p:spPr>
          <a:xfrm>
            <a:off x="868680" y="2194560"/>
            <a:ext cx="306324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Never sees the park consultation</a:t>
            </a:r>
            <a:endParaRPr lang="en-US" sz="1600" dirty="0"/>
          </a:p>
          <a:p>
            <a:pPr marL="342900" indent="-342900">
              <a:spcAft>
                <a:spcPts val="1000"/>
              </a:spcAft>
              <a:buSzPct val="100000"/>
              <a:buChar char="•"/>
            </a:pPr>
            <a:r>
              <a:rPr lang="en-US" sz="1600" dirty="0">
                <a:solidFill>
                  <a:schemeClr val="tx1"/>
                </a:solidFill>
              </a:rPr>
              <a:t>Policy terms are confusing</a:t>
            </a:r>
            <a:endParaRPr lang="en-US" sz="1600" dirty="0"/>
          </a:p>
          <a:p>
            <a:pPr marL="342900" indent="-342900">
              <a:spcAft>
                <a:spcPts val="1000"/>
              </a:spcAft>
              <a:buSzPct val="100000"/>
              <a:buChar char="•"/>
            </a:pPr>
            <a:r>
              <a:rPr lang="en-US" sz="1600" dirty="0">
                <a:solidFill>
                  <a:schemeClr val="tx1"/>
                </a:solidFill>
              </a:rPr>
              <a:t>Doesn't know which department to ask</a:t>
            </a:r>
            <a:endParaRPr lang="en-US" sz="1600" dirty="0"/>
          </a:p>
          <a:p>
            <a:pPr marL="342900" indent="-342900">
              <a:spcAft>
                <a:spcPts val="1000"/>
              </a:spcAft>
              <a:buSzPct val="100000"/>
              <a:buChar char="•"/>
            </a:pPr>
            <a:r>
              <a:rPr lang="en-US" sz="1600" dirty="0">
                <a:solidFill>
                  <a:schemeClr val="tx1"/>
                </a:solidFill>
              </a:rPr>
              <a:t>Emails a general inbox and hears nothing</a:t>
            </a:r>
            <a:endParaRPr lang="en-US" sz="1600" dirty="0"/>
          </a:p>
        </p:txBody>
      </p:sp>
      <p:sp>
        <p:nvSpPr>
          <p:cNvPr id="6" name="With HearHere card"/>
          <p:cNvSpPr/>
          <p:nvPr/>
        </p:nvSpPr>
        <p:spPr>
          <a:xfrm>
            <a:off x="4480560" y="1325880"/>
            <a:ext cx="3657600" cy="4846320"/>
          </a:xfrm>
          <a:prstGeom prst="roundRect">
            <a:avLst>
              <a:gd name="adj" fmla="val 3000"/>
            </a:avLst>
          </a:prstGeom>
          <a:solidFill>
            <a:srgbClr val="E8F4F6"/>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7" name="Text 5"/>
          <p:cNvSpPr txBox="1"/>
          <p:nvPr/>
        </p:nvSpPr>
        <p:spPr>
          <a:xfrm>
            <a:off x="4800600" y="1554480"/>
            <a:ext cx="3017520" cy="502920"/>
          </a:xfrm>
          <a:prstGeom prst="rect">
            <a:avLst/>
          </a:prstGeom>
          <a:noFill/>
          <a:ln/>
        </p:spPr>
        <p:txBody>
          <a:bodyPr wrap="square" lIns="0" tIns="0" rIns="0" bIns="0" rtlCol="0" anchor="t"/>
          <a:lstStyle/>
          <a:p>
            <a:pPr indent="0" marL="0">
              <a:buNone/>
            </a:pPr>
            <a:r>
              <a:rPr lang="en-US" sz="2400" b="1" dirty="0">
                <a:solidFill>
                  <a:srgbClr val="16707F"/>
                </a:solidFill>
              </a:rPr>
              <a:t>With HearHere</a:t>
            </a:r>
            <a:endParaRPr lang="en-US" sz="2400" dirty="0"/>
          </a:p>
        </p:txBody>
      </p:sp>
      <p:sp>
        <p:nvSpPr>
          <p:cNvPr id="8" name="Text 6"/>
          <p:cNvSpPr txBox="1"/>
          <p:nvPr/>
        </p:nvSpPr>
        <p:spPr>
          <a:xfrm>
            <a:off x="4800600" y="2194560"/>
            <a:ext cx="306324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Finds it on his usual walk</a:t>
            </a:r>
            <a:endParaRPr lang="en-US" sz="1600" dirty="0"/>
          </a:p>
          <a:p>
            <a:pPr marL="342900" indent="-342900">
              <a:spcAft>
                <a:spcPts val="1000"/>
              </a:spcAft>
              <a:buSzPct val="100000"/>
              <a:buChar char="•"/>
            </a:pPr>
            <a:r>
              <a:rPr lang="en-US" sz="1600" dirty="0">
                <a:solidFill>
                  <a:schemeClr val="tx1"/>
                </a:solidFill>
              </a:rPr>
              <a:t>Reads a summary in his own language</a:t>
            </a:r>
            <a:endParaRPr lang="en-US" sz="1600" dirty="0"/>
          </a:p>
          <a:p>
            <a:pPr marL="342900" indent="-342900">
              <a:spcAft>
                <a:spcPts val="1000"/>
              </a:spcAft>
              <a:buSzPct val="100000"/>
              <a:buChar char="•"/>
            </a:pPr>
            <a:r>
              <a:rPr lang="en-US" sz="1600" dirty="0">
                <a:solidFill>
                  <a:schemeClr val="tx1"/>
                </a:solidFill>
              </a:rPr>
              <a:t>Spud names Parks &amp; Open Space for him</a:t>
            </a:r>
            <a:endParaRPr lang="en-US" sz="1600" dirty="0"/>
          </a:p>
          <a:p>
            <a:pPr marL="342900" indent="-342900">
              <a:spcAft>
                <a:spcPts val="1000"/>
              </a:spcAft>
              <a:buSzPct val="100000"/>
              <a:buChar char="•"/>
            </a:pPr>
            <a:r>
              <a:rPr lang="en-US" sz="1600" dirty="0">
                <a:solidFill>
                  <a:schemeClr val="tx1"/>
                </a:solidFill>
              </a:rPr>
              <a:t>Sees each stage of the issue, and when it changes</a:t>
            </a:r>
            <a:endParaRPr lang="en-US" sz="1600" dirty="0"/>
          </a:p>
        </p:txBody>
      </p:sp>
      <p:pic>
        <p:nvPicPr>
          <p:cNvPr id="9" name="Jason with his dog" descr="Jason with his dog">    </p:cNvPr>
          <p:cNvPicPr>
            <a:picLocks noChangeAspect="1"/>
          </p:cNvPicPr>
          <p:nvPr/>
        </p:nvPicPr>
        <p:blipFill>
          <a:blip r:embed="rId1"/>
          <a:stretch>
            <a:fillRect/>
          </a:stretch>
        </p:blipFill>
        <p:spPr>
          <a:xfrm>
            <a:off x="8412480" y="1463040"/>
            <a:ext cx="3200400" cy="3200400"/>
          </a:xfrm>
          <a:prstGeom prst="rect">
            <a:avLst/>
          </a:prstGeom>
        </p:spPr>
      </p:pic>
      <p:sp>
        <p:nvSpPr>
          <p:cNvPr id="10" name="no meeting pill"/>
          <p:cNvSpPr/>
          <p:nvPr/>
        </p:nvSpPr>
        <p:spPr>
          <a:xfrm>
            <a:off x="8412480" y="5120640"/>
            <a:ext cx="3200400" cy="685800"/>
          </a:xfrm>
          <a:prstGeom prst="roundRect">
            <a:avLst>
              <a:gd name="adj" fmla="val 49333"/>
            </a:avLst>
          </a:prstGeom>
          <a:solidFill>
            <a:srgbClr val="7B4B94"/>
          </a:solidFill>
          <a:ln w="12700">
            <a:solidFill>
              <a:srgbClr val="7B4B94"/>
            </a:solidFill>
            <a:prstDash val="solid"/>
          </a:ln>
        </p:spPr>
      </p:sp>
      <p:sp>
        <p:nvSpPr>
          <p:cNvPr id="11" name="Text 8"/>
          <p:cNvSpPr txBox="1"/>
          <p:nvPr/>
        </p:nvSpPr>
        <p:spPr>
          <a:xfrm>
            <a:off x="8412480" y="5120640"/>
            <a:ext cx="3200400" cy="685800"/>
          </a:xfrm>
          <a:prstGeom prst="rect">
            <a:avLst/>
          </a:prstGeom>
          <a:noFill/>
          <a:ln/>
        </p:spPr>
        <p:txBody>
          <a:bodyPr wrap="square" lIns="0" tIns="0" rIns="0" bIns="0" rtlCol="0" anchor="ctr"/>
          <a:lstStyle/>
          <a:p>
            <a:pPr algn="ctr" indent="0" marL="0">
              <a:buNone/>
            </a:pPr>
            <a:r>
              <a:rPr lang="en-US" sz="2000" b="1" dirty="0">
                <a:solidFill>
                  <a:schemeClr val="bg1"/>
                </a:solidFill>
              </a:rPr>
              <a:t>No meeting needed</a:t>
            </a:r>
            <a:endParaRPr lang="en-US" sz="20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Ethical risks we designed for</a:t>
            </a:r>
            <a:endParaRPr lang="en-US" sz="3400" dirty="0"/>
          </a:p>
        </p:txBody>
      </p:sp>
      <p:sp>
        <p:nvSpPr>
          <p:cNvPr id="3" name="Privacy in public card"/>
          <p:cNvSpPr/>
          <p:nvPr/>
        </p:nvSpPr>
        <p:spPr>
          <a:xfrm>
            <a:off x="548640" y="1325880"/>
            <a:ext cx="5440680" cy="2286000"/>
          </a:xfrm>
          <a:prstGeom prst="roundRect">
            <a:avLst>
              <a:gd name="adj" fmla="val 48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4" name="Privacy in public circle"/>
          <p:cNvSpPr/>
          <p:nvPr/>
        </p:nvSpPr>
        <p:spPr>
          <a:xfrm>
            <a:off x="822960" y="1600200"/>
            <a:ext cx="640080" cy="640080"/>
          </a:xfrm>
          <a:prstGeom prst="ellipse">
            <a:avLst/>
          </a:prstGeom>
          <a:solidFill>
            <a:srgbClr val="7B4B94"/>
          </a:solidFill>
          <a:ln w="12700">
            <a:solidFill>
              <a:srgbClr val="7B4B94"/>
            </a:solidFill>
            <a:prstDash val="solid"/>
          </a:ln>
        </p:spPr>
      </p:sp>
      <p:pic>
        <p:nvPicPr>
          <p:cNvPr id="5" name="Privacy in public icon"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1645920" y="1600200"/>
            <a:ext cx="4114800" cy="457200"/>
          </a:xfrm>
          <a:prstGeom prst="rect">
            <a:avLst/>
          </a:prstGeom>
          <a:noFill/>
          <a:ln/>
        </p:spPr>
        <p:txBody>
          <a:bodyPr wrap="square" lIns="0" tIns="0" rIns="0" bIns="0" rtlCol="0" anchor="t"/>
          <a:lstStyle/>
          <a:p>
            <a:pPr indent="0" marL="0">
              <a:buNone/>
            </a:pPr>
            <a:r>
              <a:rPr lang="en-US" sz="2000" b="1" dirty="0">
                <a:solidFill>
                  <a:schemeClr val="tx2"/>
                </a:solidFill>
              </a:rPr>
              <a:t>Privacy in public</a:t>
            </a:r>
            <a:endParaRPr lang="en-US" sz="2000" dirty="0"/>
          </a:p>
        </p:txBody>
      </p:sp>
      <p:sp>
        <p:nvSpPr>
          <p:cNvPr id="7" name="Text 4"/>
          <p:cNvSpPr txBox="1"/>
          <p:nvPr/>
        </p:nvSpPr>
        <p:spPr>
          <a:xfrm>
            <a:off x="1645920" y="2103120"/>
            <a:ext cx="4114800" cy="548640"/>
          </a:xfrm>
          <a:prstGeom prst="rect">
            <a:avLst/>
          </a:prstGeom>
          <a:noFill/>
          <a:ln/>
        </p:spPr>
        <p:txBody>
          <a:bodyPr wrap="square" lIns="0" tIns="0" rIns="0" bIns="0" rtlCol="0" anchor="t"/>
          <a:lstStyle/>
          <a:p>
            <a:pPr indent="0" marL="0">
              <a:buNone/>
            </a:pPr>
            <a:r>
              <a:rPr lang="en-US" sz="1500" dirty="0">
                <a:solidFill>
                  <a:schemeClr val="tx1"/>
                </a:solidFill>
              </a:rPr>
              <a:t>Speaking aloud may expose someone's background.</a:t>
            </a:r>
            <a:endParaRPr lang="en-US" sz="1500" dirty="0"/>
          </a:p>
        </p:txBody>
      </p:sp>
      <p:sp>
        <p:nvSpPr>
          <p:cNvPr id="8" name="Text 5"/>
          <p:cNvSpPr txBox="1"/>
          <p:nvPr/>
        </p:nvSpPr>
        <p:spPr>
          <a:xfrm>
            <a:off x="1645920" y="2697480"/>
            <a:ext cx="4114800" cy="731520"/>
          </a:xfrm>
          <a:prstGeom prst="rect">
            <a:avLst/>
          </a:prstGeom>
          <a:noFill/>
          <a:ln/>
        </p:spPr>
        <p:txBody>
          <a:bodyPr wrap="square" lIns="0" tIns="0" rIns="0" bIns="0" rtlCol="0" anchor="t"/>
          <a:lstStyle/>
          <a:p>
            <a:pPr indent="0" marL="0">
              <a:buNone/>
            </a:pPr>
            <a:r>
              <a:rPr lang="en-US" sz="1400" b="1" dirty="0">
                <a:solidFill>
                  <a:srgbClr val="16707F"/>
                </a:solidFill>
              </a:rPr>
              <a:t>Mitigation: </a:t>
            </a:r>
            <a:pPr indent="0" marL="0">
              <a:buNone/>
            </a:pPr>
            <a:r>
              <a:rPr lang="en-US" sz="1400" dirty="0">
                <a:solidFill>
                  <a:schemeClr val="tx1"/>
                </a:solidFill>
              </a:rPr>
              <a:t>No recordings kept; typed input; anonymous option</a:t>
            </a:r>
            <a:endParaRPr lang="en-US" sz="1400" dirty="0"/>
          </a:p>
        </p:txBody>
      </p:sp>
      <p:sp>
        <p:nvSpPr>
          <p:cNvPr id="9" name="AI accuracy card"/>
          <p:cNvSpPr/>
          <p:nvPr/>
        </p:nvSpPr>
        <p:spPr>
          <a:xfrm>
            <a:off x="6172200" y="1325880"/>
            <a:ext cx="5440680" cy="2286000"/>
          </a:xfrm>
          <a:prstGeom prst="roundRect">
            <a:avLst>
              <a:gd name="adj" fmla="val 48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0" name="AI accuracy circle"/>
          <p:cNvSpPr/>
          <p:nvPr/>
        </p:nvSpPr>
        <p:spPr>
          <a:xfrm>
            <a:off x="6446520" y="1600200"/>
            <a:ext cx="640080" cy="640080"/>
          </a:xfrm>
          <a:prstGeom prst="ellipse">
            <a:avLst/>
          </a:prstGeom>
          <a:solidFill>
            <a:srgbClr val="F28C28"/>
          </a:solidFill>
          <a:ln w="12700">
            <a:solidFill>
              <a:srgbClr val="F28C28"/>
            </a:solidFill>
            <a:prstDash val="solid"/>
          </a:ln>
        </p:spPr>
      </p:sp>
      <p:pic>
        <p:nvPicPr>
          <p:cNvPr id="11" name="AI accuracy icon" descr="preencoded.png">    </p:cNvPr>
          <p:cNvPicPr>
            <a:picLocks noChangeAspect="1"/>
          </p:cNvPicPr>
          <p:nvPr/>
        </p:nvPicPr>
        <p:blipFill>
          <a:blip r:embed="rId2"/>
          <a:stretch>
            <a:fillRect/>
          </a:stretch>
        </p:blipFill>
        <p:spPr>
          <a:xfrm>
            <a:off x="6600139" y="1753819"/>
            <a:ext cx="332842" cy="332842"/>
          </a:xfrm>
          <a:prstGeom prst="rect">
            <a:avLst/>
          </a:prstGeom>
        </p:spPr>
      </p:pic>
      <p:sp>
        <p:nvSpPr>
          <p:cNvPr id="12" name="Text 8"/>
          <p:cNvSpPr txBox="1"/>
          <p:nvPr/>
        </p:nvSpPr>
        <p:spPr>
          <a:xfrm>
            <a:off x="7269480" y="1600200"/>
            <a:ext cx="4114800" cy="457200"/>
          </a:xfrm>
          <a:prstGeom prst="rect">
            <a:avLst/>
          </a:prstGeom>
          <a:noFill/>
          <a:ln/>
        </p:spPr>
        <p:txBody>
          <a:bodyPr wrap="square" lIns="0" tIns="0" rIns="0" bIns="0" rtlCol="0" anchor="t"/>
          <a:lstStyle/>
          <a:p>
            <a:pPr indent="0" marL="0">
              <a:buNone/>
            </a:pPr>
            <a:r>
              <a:rPr lang="en-US" sz="2000" b="1" dirty="0">
                <a:solidFill>
                  <a:schemeClr val="tx2"/>
                </a:solidFill>
              </a:rPr>
              <a:t>AI accuracy</a:t>
            </a:r>
            <a:endParaRPr lang="en-US" sz="2000" dirty="0"/>
          </a:p>
        </p:txBody>
      </p:sp>
      <p:sp>
        <p:nvSpPr>
          <p:cNvPr id="13" name="Text 9"/>
          <p:cNvSpPr txBox="1"/>
          <p:nvPr/>
        </p:nvSpPr>
        <p:spPr>
          <a:xfrm>
            <a:off x="7269480" y="2103120"/>
            <a:ext cx="4114800" cy="548640"/>
          </a:xfrm>
          <a:prstGeom prst="rect">
            <a:avLst/>
          </a:prstGeom>
          <a:noFill/>
          <a:ln/>
        </p:spPr>
        <p:txBody>
          <a:bodyPr wrap="square" lIns="0" tIns="0" rIns="0" bIns="0" rtlCol="0" anchor="t"/>
          <a:lstStyle/>
          <a:p>
            <a:pPr indent="0" marL="0">
              <a:buNone/>
            </a:pPr>
            <a:r>
              <a:rPr lang="en-US" sz="1500" dirty="0">
                <a:solidFill>
                  <a:schemeClr val="tx1"/>
                </a:solidFill>
              </a:rPr>
              <a:t>Translations or summaries can change meaning.</a:t>
            </a:r>
            <a:endParaRPr lang="en-US" sz="1500" dirty="0"/>
          </a:p>
        </p:txBody>
      </p:sp>
      <p:sp>
        <p:nvSpPr>
          <p:cNvPr id="14" name="Text 10"/>
          <p:cNvSpPr txBox="1"/>
          <p:nvPr/>
        </p:nvSpPr>
        <p:spPr>
          <a:xfrm>
            <a:off x="7269480" y="2697480"/>
            <a:ext cx="4114800" cy="731520"/>
          </a:xfrm>
          <a:prstGeom prst="rect">
            <a:avLst/>
          </a:prstGeom>
          <a:noFill/>
          <a:ln/>
        </p:spPr>
        <p:txBody>
          <a:bodyPr wrap="square" lIns="0" tIns="0" rIns="0" bIns="0" rtlCol="0" anchor="t"/>
          <a:lstStyle/>
          <a:p>
            <a:pPr indent="0" marL="0">
              <a:buNone/>
            </a:pPr>
            <a:r>
              <a:rPr lang="en-US" sz="1400" b="1" dirty="0">
                <a:solidFill>
                  <a:srgbClr val="16707F"/>
                </a:solidFill>
              </a:rPr>
              <a:t>Mitigation: </a:t>
            </a:r>
            <a:pPr indent="0" marL="0">
              <a:buNone/>
            </a:pPr>
            <a:r>
              <a:rPr lang="en-US" sz="1400" dirty="0">
                <a:solidFill>
                  <a:schemeClr val="tx1"/>
                </a:solidFill>
              </a:rPr>
              <a:t>Review and edit before sending; sources cited; human hand-over</a:t>
            </a:r>
            <a:endParaRPr lang="en-US" sz="1400" dirty="0"/>
          </a:p>
        </p:txBody>
      </p:sp>
      <p:sp>
        <p:nvSpPr>
          <p:cNvPr id="15" name="Misuse and impersonation card"/>
          <p:cNvSpPr/>
          <p:nvPr/>
        </p:nvSpPr>
        <p:spPr>
          <a:xfrm>
            <a:off x="548640" y="3794760"/>
            <a:ext cx="5440680" cy="2286000"/>
          </a:xfrm>
          <a:prstGeom prst="roundRect">
            <a:avLst>
              <a:gd name="adj" fmla="val 48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6" name="Misuse and impersonation circle"/>
          <p:cNvSpPr/>
          <p:nvPr/>
        </p:nvSpPr>
        <p:spPr>
          <a:xfrm>
            <a:off x="822960" y="4069080"/>
            <a:ext cx="640080" cy="640080"/>
          </a:xfrm>
          <a:prstGeom prst="ellipse">
            <a:avLst/>
          </a:prstGeom>
          <a:solidFill>
            <a:srgbClr val="E0544B"/>
          </a:solidFill>
          <a:ln w="12700">
            <a:solidFill>
              <a:srgbClr val="E0544B"/>
            </a:solidFill>
            <a:prstDash val="solid"/>
          </a:ln>
        </p:spPr>
      </p:sp>
      <p:pic>
        <p:nvPicPr>
          <p:cNvPr id="17" name="Misuse and impersonation icon" descr="preencoded.png">    </p:cNvPr>
          <p:cNvPicPr>
            <a:picLocks noChangeAspect="1"/>
          </p:cNvPicPr>
          <p:nvPr/>
        </p:nvPicPr>
        <p:blipFill>
          <a:blip r:embed="rId3"/>
          <a:stretch>
            <a:fillRect/>
          </a:stretch>
        </p:blipFill>
        <p:spPr>
          <a:xfrm>
            <a:off x="976579" y="4222699"/>
            <a:ext cx="332842" cy="332842"/>
          </a:xfrm>
          <a:prstGeom prst="rect">
            <a:avLst/>
          </a:prstGeom>
        </p:spPr>
      </p:pic>
      <p:sp>
        <p:nvSpPr>
          <p:cNvPr id="18" name="Text 13"/>
          <p:cNvSpPr txBox="1"/>
          <p:nvPr/>
        </p:nvSpPr>
        <p:spPr>
          <a:xfrm>
            <a:off x="1645920" y="4069080"/>
            <a:ext cx="4114800" cy="457200"/>
          </a:xfrm>
          <a:prstGeom prst="rect">
            <a:avLst/>
          </a:prstGeom>
          <a:noFill/>
          <a:ln/>
        </p:spPr>
        <p:txBody>
          <a:bodyPr wrap="square" lIns="0" tIns="0" rIns="0" bIns="0" rtlCol="0" anchor="t"/>
          <a:lstStyle/>
          <a:p>
            <a:pPr indent="0" marL="0">
              <a:buNone/>
            </a:pPr>
            <a:r>
              <a:rPr lang="en-US" sz="2000" b="1" dirty="0">
                <a:solidFill>
                  <a:schemeClr val="tx2"/>
                </a:solidFill>
              </a:rPr>
              <a:t>Misuse and impersonation</a:t>
            </a:r>
            <a:endParaRPr lang="en-US" sz="2000" dirty="0"/>
          </a:p>
        </p:txBody>
      </p:sp>
      <p:sp>
        <p:nvSpPr>
          <p:cNvPr id="19" name="Text 14"/>
          <p:cNvSpPr txBox="1"/>
          <p:nvPr/>
        </p:nvSpPr>
        <p:spPr>
          <a:xfrm>
            <a:off x="1645920" y="4572000"/>
            <a:ext cx="4114800" cy="548640"/>
          </a:xfrm>
          <a:prstGeom prst="rect">
            <a:avLst/>
          </a:prstGeom>
          <a:noFill/>
          <a:ln/>
        </p:spPr>
        <p:txBody>
          <a:bodyPr wrap="square" lIns="0" tIns="0" rIns="0" bIns="0" rtlCol="0" anchor="t"/>
          <a:lstStyle/>
          <a:p>
            <a:pPr indent="0" marL="0">
              <a:buNone/>
            </a:pPr>
            <a:r>
              <a:rPr lang="en-US" sz="1500" dirty="0">
                <a:solidFill>
                  <a:schemeClr val="tx1"/>
                </a:solidFill>
              </a:rPr>
              <a:t>Fake QR/NFC stickers, fake Spud accounts, spam.</a:t>
            </a:r>
            <a:endParaRPr lang="en-US" sz="1500" dirty="0"/>
          </a:p>
        </p:txBody>
      </p:sp>
      <p:sp>
        <p:nvSpPr>
          <p:cNvPr id="20" name="Text 15"/>
          <p:cNvSpPr txBox="1"/>
          <p:nvPr/>
        </p:nvSpPr>
        <p:spPr>
          <a:xfrm>
            <a:off x="1645920" y="5166360"/>
            <a:ext cx="4114800" cy="731520"/>
          </a:xfrm>
          <a:prstGeom prst="rect">
            <a:avLst/>
          </a:prstGeom>
          <a:noFill/>
          <a:ln/>
        </p:spPr>
        <p:txBody>
          <a:bodyPr wrap="square" lIns="0" tIns="0" rIns="0" bIns="0" rtlCol="0" anchor="t"/>
          <a:lstStyle/>
          <a:p>
            <a:pPr indent="0" marL="0">
              <a:buNone/>
            </a:pPr>
            <a:r>
              <a:rPr lang="en-US" sz="1400" b="1" dirty="0">
                <a:solidFill>
                  <a:srgbClr val="16707F"/>
                </a:solidFill>
              </a:rPr>
              <a:t>Mitigation: </a:t>
            </a:r>
            <a:pPr indent="0" marL="0">
              <a:buNone/>
            </a:pPr>
            <a:r>
              <a:rPr lang="en-US" sz="1400" dirty="0">
                <a:solidFill>
                  <a:schemeClr val="tx1"/>
                </a:solidFill>
              </a:rPr>
              <a:t>Verified official account; rate limits; regular inspection</a:t>
            </a:r>
            <a:endParaRPr lang="en-US" sz="1400" dirty="0"/>
          </a:p>
        </p:txBody>
      </p:sp>
      <p:sp>
        <p:nvSpPr>
          <p:cNvPr id="21" name="Badges and representation card"/>
          <p:cNvSpPr/>
          <p:nvPr/>
        </p:nvSpPr>
        <p:spPr>
          <a:xfrm>
            <a:off x="6172200" y="3794760"/>
            <a:ext cx="5440680" cy="2286000"/>
          </a:xfrm>
          <a:prstGeom prst="roundRect">
            <a:avLst>
              <a:gd name="adj" fmla="val 4800"/>
            </a:avLst>
          </a:prstGeom>
          <a:solidFill>
            <a:schemeClr val="bg1"/>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22" name="Badges and representation circle"/>
          <p:cNvSpPr/>
          <p:nvPr/>
        </p:nvSpPr>
        <p:spPr>
          <a:xfrm>
            <a:off x="6446520" y="4069080"/>
            <a:ext cx="640080" cy="640080"/>
          </a:xfrm>
          <a:prstGeom prst="ellipse">
            <a:avLst/>
          </a:prstGeom>
          <a:solidFill>
            <a:srgbClr val="16707F"/>
          </a:solidFill>
          <a:ln w="12700">
            <a:solidFill>
              <a:srgbClr val="16707F"/>
            </a:solidFill>
            <a:prstDash val="solid"/>
          </a:ln>
        </p:spPr>
      </p:sp>
      <p:pic>
        <p:nvPicPr>
          <p:cNvPr id="23" name="Badges and representation icon" descr="preencoded.png">    </p:cNvPr>
          <p:cNvPicPr>
            <a:picLocks noChangeAspect="1"/>
          </p:cNvPicPr>
          <p:nvPr/>
        </p:nvPicPr>
        <p:blipFill>
          <a:blip r:embed="rId4"/>
          <a:stretch>
            <a:fillRect/>
          </a:stretch>
        </p:blipFill>
        <p:spPr>
          <a:xfrm>
            <a:off x="6600139" y="4222699"/>
            <a:ext cx="332842" cy="332842"/>
          </a:xfrm>
          <a:prstGeom prst="rect">
            <a:avLst/>
          </a:prstGeom>
        </p:spPr>
      </p:pic>
      <p:sp>
        <p:nvSpPr>
          <p:cNvPr id="24" name="Text 18"/>
          <p:cNvSpPr txBox="1"/>
          <p:nvPr/>
        </p:nvSpPr>
        <p:spPr>
          <a:xfrm>
            <a:off x="7269480" y="4069080"/>
            <a:ext cx="4114800" cy="457200"/>
          </a:xfrm>
          <a:prstGeom prst="rect">
            <a:avLst/>
          </a:prstGeom>
          <a:noFill/>
          <a:ln/>
        </p:spPr>
        <p:txBody>
          <a:bodyPr wrap="square" lIns="0" tIns="0" rIns="0" bIns="0" rtlCol="0" anchor="t"/>
          <a:lstStyle/>
          <a:p>
            <a:pPr indent="0" marL="0">
              <a:buNone/>
            </a:pPr>
            <a:r>
              <a:rPr lang="en-US" sz="2000" b="1" dirty="0">
                <a:solidFill>
                  <a:schemeClr val="tx2"/>
                </a:solidFill>
              </a:rPr>
              <a:t>Badges and representation</a:t>
            </a:r>
            <a:endParaRPr lang="en-US" sz="2000" dirty="0"/>
          </a:p>
        </p:txBody>
      </p:sp>
      <p:sp>
        <p:nvSpPr>
          <p:cNvPr id="25" name="Text 19"/>
          <p:cNvSpPr txBox="1"/>
          <p:nvPr/>
        </p:nvSpPr>
        <p:spPr>
          <a:xfrm>
            <a:off x="7269480" y="4572000"/>
            <a:ext cx="4114800" cy="548640"/>
          </a:xfrm>
          <a:prstGeom prst="rect">
            <a:avLst/>
          </a:prstGeom>
          <a:noFill/>
          <a:ln/>
        </p:spPr>
        <p:txBody>
          <a:bodyPr wrap="square" lIns="0" tIns="0" rIns="0" bIns="0" rtlCol="0" anchor="t"/>
          <a:lstStyle/>
          <a:p>
            <a:pPr indent="0" marL="0">
              <a:buNone/>
            </a:pPr>
            <a:r>
              <a:rPr lang="en-US" sz="1500" dirty="0">
                <a:solidFill>
                  <a:schemeClr val="tx1"/>
                </a:solidFill>
              </a:rPr>
              <a:t>Badges could be farmed; feedback isn't a vote.</a:t>
            </a:r>
            <a:endParaRPr lang="en-US" sz="1500" dirty="0"/>
          </a:p>
        </p:txBody>
      </p:sp>
      <p:sp>
        <p:nvSpPr>
          <p:cNvPr id="26" name="Text 20"/>
          <p:cNvSpPr txBox="1"/>
          <p:nvPr/>
        </p:nvSpPr>
        <p:spPr>
          <a:xfrm>
            <a:off x="7269480" y="5166360"/>
            <a:ext cx="4114800" cy="731520"/>
          </a:xfrm>
          <a:prstGeom prst="rect">
            <a:avLst/>
          </a:prstGeom>
          <a:noFill/>
          <a:ln/>
        </p:spPr>
        <p:txBody>
          <a:bodyPr wrap="square" lIns="0" tIns="0" rIns="0" bIns="0" rtlCol="0" anchor="t"/>
          <a:lstStyle/>
          <a:p>
            <a:pPr indent="0" marL="0">
              <a:buNone/>
            </a:pPr>
            <a:r>
              <a:rPr lang="en-US" sz="1400" b="1" dirty="0">
                <a:solidFill>
                  <a:srgbClr val="16707F"/>
                </a:solidFill>
              </a:rPr>
              <a:t>Mitigation: </a:t>
            </a:r>
            <a:pPr indent="0" marL="0">
              <a:buNone/>
            </a:pPr>
            <a:r>
              <a:rPr lang="en-US" sz="1400" dirty="0">
                <a:solidFill>
                  <a:schemeClr val="tx1"/>
                </a:solidFill>
              </a:rPr>
              <a:t>One badge per post; stored on phone; labelled as feedback, not polling</a:t>
            </a:r>
            <a:endParaRPr lang="en-US" sz="14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Next: test a low-fidelity prototype</a:t>
            </a:r>
            <a:endParaRPr lang="en-US" sz="3400" dirty="0"/>
          </a:p>
        </p:txBody>
      </p:sp>
      <p:sp>
        <p:nvSpPr>
          <p:cNvPr id="3" name="Build circle"/>
          <p:cNvSpPr/>
          <p:nvPr/>
        </p:nvSpPr>
        <p:spPr>
          <a:xfrm>
            <a:off x="548640" y="1371600"/>
            <a:ext cx="822960" cy="822960"/>
          </a:xfrm>
          <a:prstGeom prst="ellipse">
            <a:avLst/>
          </a:prstGeom>
          <a:solidFill>
            <a:srgbClr val="7B4B94"/>
          </a:solidFill>
          <a:ln w="12700">
            <a:solidFill>
              <a:srgbClr val="7B4B94"/>
            </a:solidFill>
            <a:prstDash val="solid"/>
          </a:ln>
        </p:spPr>
      </p:sp>
      <p:pic>
        <p:nvPicPr>
          <p:cNvPr id="4" name="Build icon" descr="preencoded.png">    </p:cNvPr>
          <p:cNvPicPr>
            <a:picLocks noChangeAspect="1"/>
          </p:cNvPicPr>
          <p:nvPr/>
        </p:nvPicPr>
        <p:blipFill>
          <a:blip r:embed="rId1"/>
          <a:stretch>
            <a:fillRect/>
          </a:stretch>
        </p:blipFill>
        <p:spPr>
          <a:xfrm>
            <a:off x="746150" y="1569110"/>
            <a:ext cx="427939" cy="427939"/>
          </a:xfrm>
          <a:prstGeom prst="rect">
            <a:avLst/>
          </a:prstGeom>
        </p:spPr>
      </p:pic>
      <p:sp>
        <p:nvSpPr>
          <p:cNvPr id="5" name="Text 2"/>
          <p:cNvSpPr txBox="1"/>
          <p:nvPr/>
        </p:nvSpPr>
        <p:spPr>
          <a:xfrm>
            <a:off x="1600200" y="1325880"/>
            <a:ext cx="3840480" cy="1005840"/>
          </a:xfrm>
          <a:prstGeom prst="rect">
            <a:avLst/>
          </a:prstGeom>
          <a:noFill/>
          <a:ln/>
        </p:spPr>
        <p:txBody>
          <a:bodyPr wrap="square" lIns="0" tIns="0" rIns="0" bIns="0" rtlCol="0" anchor="ctr"/>
          <a:lstStyle/>
          <a:p>
            <a:pPr indent="0" marL="0">
              <a:buNone/>
            </a:pPr>
            <a:r>
              <a:rPr lang="en-US" sz="2200" b="1" dirty="0">
                <a:solidFill>
                  <a:schemeClr val="tx2"/>
                </a:solidFill>
              </a:rPr>
              <a:t>Build</a:t>
            </a:r>
            <a:endParaRPr lang="en-US" sz="1500" dirty="0"/>
          </a:p>
          <a:p>
            <a:pPr indent="0" marL="0">
              <a:buNone/>
            </a:pPr>
            <a:r>
              <a:rPr lang="en-US" sz="1500" dirty="0">
                <a:solidFill>
                  <a:schemeClr val="tx1"/>
                </a:solidFill>
              </a:rPr>
              <a:t>Figma app prototype + cardboard post</a:t>
            </a:r>
            <a:endParaRPr lang="en-US" sz="1500" dirty="0"/>
          </a:p>
        </p:txBody>
      </p:sp>
      <p:sp>
        <p:nvSpPr>
          <p:cNvPr id="6" name="Test circle"/>
          <p:cNvSpPr/>
          <p:nvPr/>
        </p:nvSpPr>
        <p:spPr>
          <a:xfrm>
            <a:off x="548640" y="2834640"/>
            <a:ext cx="822960" cy="822960"/>
          </a:xfrm>
          <a:prstGeom prst="ellipse">
            <a:avLst/>
          </a:prstGeom>
          <a:solidFill>
            <a:srgbClr val="F28C28"/>
          </a:solidFill>
          <a:ln w="12700">
            <a:solidFill>
              <a:srgbClr val="F28C28"/>
            </a:solidFill>
            <a:prstDash val="solid"/>
          </a:ln>
        </p:spPr>
      </p:sp>
      <p:pic>
        <p:nvPicPr>
          <p:cNvPr id="7" name="Test icon" descr="preencoded.png">    </p:cNvPr>
          <p:cNvPicPr>
            <a:picLocks noChangeAspect="1"/>
          </p:cNvPicPr>
          <p:nvPr/>
        </p:nvPicPr>
        <p:blipFill>
          <a:blip r:embed="rId2"/>
          <a:stretch>
            <a:fillRect/>
          </a:stretch>
        </p:blipFill>
        <p:spPr>
          <a:xfrm>
            <a:off x="746150" y="3032150"/>
            <a:ext cx="427939" cy="427939"/>
          </a:xfrm>
          <a:prstGeom prst="rect">
            <a:avLst/>
          </a:prstGeom>
        </p:spPr>
      </p:pic>
      <p:sp>
        <p:nvSpPr>
          <p:cNvPr id="8" name="Text 4"/>
          <p:cNvSpPr txBox="1"/>
          <p:nvPr/>
        </p:nvSpPr>
        <p:spPr>
          <a:xfrm>
            <a:off x="1600200" y="2788920"/>
            <a:ext cx="3840480" cy="1005840"/>
          </a:xfrm>
          <a:prstGeom prst="rect">
            <a:avLst/>
          </a:prstGeom>
          <a:noFill/>
          <a:ln/>
        </p:spPr>
        <p:txBody>
          <a:bodyPr wrap="square" lIns="0" tIns="0" rIns="0" bIns="0" rtlCol="0" anchor="ctr"/>
          <a:lstStyle/>
          <a:p>
            <a:pPr indent="0" marL="0">
              <a:buNone/>
            </a:pPr>
            <a:r>
              <a:rPr lang="en-US" sz="2200" b="1" dirty="0">
                <a:solidFill>
                  <a:schemeClr val="tx2"/>
                </a:solidFill>
              </a:rPr>
              <a:t>Test</a:t>
            </a:r>
            <a:endParaRPr lang="en-US" sz="1500" dirty="0"/>
          </a:p>
          <a:p>
            <a:pPr indent="0" marL="0">
              <a:buNone/>
            </a:pPr>
            <a:r>
              <a:rPr lang="en-US" sz="1500" dirty="0">
                <a:solidFill>
                  <a:schemeClr val="tx1"/>
                </a:solidFill>
              </a:rPr>
              <a:t>Think-aloud tasks with 5–8 residents across language backgrounds</a:t>
            </a:r>
            <a:endParaRPr lang="en-US" sz="1500" dirty="0"/>
          </a:p>
        </p:txBody>
      </p:sp>
      <p:sp>
        <p:nvSpPr>
          <p:cNvPr id="9" name="Pilot circle"/>
          <p:cNvSpPr/>
          <p:nvPr/>
        </p:nvSpPr>
        <p:spPr>
          <a:xfrm>
            <a:off x="548640" y="4297680"/>
            <a:ext cx="822960" cy="822960"/>
          </a:xfrm>
          <a:prstGeom prst="ellipse">
            <a:avLst/>
          </a:prstGeom>
          <a:solidFill>
            <a:srgbClr val="16707F"/>
          </a:solidFill>
          <a:ln w="12700">
            <a:solidFill>
              <a:srgbClr val="16707F"/>
            </a:solidFill>
            <a:prstDash val="solid"/>
          </a:ln>
        </p:spPr>
      </p:sp>
      <p:pic>
        <p:nvPicPr>
          <p:cNvPr id="10" name="Pilot icon" descr="preencoded.png">    </p:cNvPr>
          <p:cNvPicPr>
            <a:picLocks noChangeAspect="1"/>
          </p:cNvPicPr>
          <p:nvPr/>
        </p:nvPicPr>
        <p:blipFill>
          <a:blip r:embed="rId3"/>
          <a:stretch>
            <a:fillRect/>
          </a:stretch>
        </p:blipFill>
        <p:spPr>
          <a:xfrm>
            <a:off x="746150" y="4495190"/>
            <a:ext cx="427939" cy="427939"/>
          </a:xfrm>
          <a:prstGeom prst="rect">
            <a:avLst/>
          </a:prstGeom>
        </p:spPr>
      </p:pic>
      <p:sp>
        <p:nvSpPr>
          <p:cNvPr id="11" name="Text 6"/>
          <p:cNvSpPr txBox="1"/>
          <p:nvPr/>
        </p:nvSpPr>
        <p:spPr>
          <a:xfrm>
            <a:off x="1600200" y="4251960"/>
            <a:ext cx="3840480" cy="1005840"/>
          </a:xfrm>
          <a:prstGeom prst="rect">
            <a:avLst/>
          </a:prstGeom>
          <a:noFill/>
          <a:ln/>
        </p:spPr>
        <p:txBody>
          <a:bodyPr wrap="square" lIns="0" tIns="0" rIns="0" bIns="0" rtlCol="0" anchor="ctr"/>
          <a:lstStyle/>
          <a:p>
            <a:pPr indent="0" marL="0">
              <a:buNone/>
            </a:pPr>
            <a:r>
              <a:rPr lang="en-US" sz="2200" b="1" dirty="0">
                <a:solidFill>
                  <a:schemeClr val="tx2"/>
                </a:solidFill>
              </a:rPr>
              <a:t>Pilot</a:t>
            </a:r>
            <a:endParaRPr lang="en-US" sz="1500" dirty="0"/>
          </a:p>
          <a:p>
            <a:pPr indent="0" marL="0">
              <a:buNone/>
            </a:pPr>
            <a:r>
              <a:rPr lang="en-US" sz="1500" dirty="0">
                <a:solidFill>
                  <a:schemeClr val="tx1"/>
                </a:solidFill>
              </a:rPr>
              <a:t>2–3 sites: library entrance, street near campus</a:t>
            </a:r>
            <a:endParaRPr lang="en-US" sz="1500" dirty="0"/>
          </a:p>
        </p:txBody>
      </p:sp>
      <p:sp>
        <p:nvSpPr>
          <p:cNvPr id="12" name="evaluation questions card"/>
          <p:cNvSpPr/>
          <p:nvPr/>
        </p:nvSpPr>
        <p:spPr>
          <a:xfrm>
            <a:off x="5852160" y="1325880"/>
            <a:ext cx="5760720" cy="4846320"/>
          </a:xfrm>
          <a:prstGeom prst="roundRect">
            <a:avLst>
              <a:gd name="adj" fmla="val 2264"/>
            </a:avLst>
          </a:prstGeom>
          <a:solidFill>
            <a:srgbClr val="F4EEF8"/>
          </a:solidFill>
          <a:ln w="9525">
            <a:solidFill>
              <a:srgbClr val="E4DCEB"/>
            </a:solidFill>
            <a:prstDash val="solid"/>
          </a:ln>
          <a:effectLst>
            <a:outerShdw sx="100000" sy="100000" kx="0" ky="0" algn="bl" rotWithShape="0" blurRad="101600" dist="25400" dir="5400000">
              <a:srgbClr val="2E1F45">
                <a:alpha val="12000"/>
              </a:srgbClr>
            </a:outerShdw>
          </a:effectLst>
        </p:spPr>
      </p:sp>
      <p:sp>
        <p:nvSpPr>
          <p:cNvPr id="13" name="Text 8"/>
          <p:cNvSpPr txBox="1"/>
          <p:nvPr/>
        </p:nvSpPr>
        <p:spPr>
          <a:xfrm>
            <a:off x="6172200" y="1554480"/>
            <a:ext cx="5212080" cy="457200"/>
          </a:xfrm>
          <a:prstGeom prst="rect">
            <a:avLst/>
          </a:prstGeom>
          <a:noFill/>
          <a:ln/>
        </p:spPr>
        <p:txBody>
          <a:bodyPr wrap="square" lIns="0" tIns="0" rIns="0" bIns="0" rtlCol="0" anchor="t"/>
          <a:lstStyle/>
          <a:p>
            <a:pPr indent="0" marL="0">
              <a:buNone/>
            </a:pPr>
            <a:r>
              <a:rPr lang="en-US" sz="2200" b="1" dirty="0">
                <a:solidFill>
                  <a:schemeClr val="tx2"/>
                </a:solidFill>
              </a:rPr>
              <a:t>Questions for the evaluation</a:t>
            </a:r>
            <a:endParaRPr lang="en-US" sz="2200" dirty="0"/>
          </a:p>
        </p:txBody>
      </p:sp>
      <p:sp>
        <p:nvSpPr>
          <p:cNvPr id="14" name="Text 9"/>
          <p:cNvSpPr txBox="1"/>
          <p:nvPr/>
        </p:nvSpPr>
        <p:spPr>
          <a:xfrm>
            <a:off x="6172200" y="2148840"/>
            <a:ext cx="521208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Can first-time users find an issue and give feedback in their own language?</a:t>
            </a:r>
            <a:endParaRPr lang="en-US" sz="1500" dirty="0"/>
          </a:p>
          <a:p>
            <a:pPr marL="342900" indent="-342900">
              <a:spcAft>
                <a:spcPts val="800"/>
              </a:spcAft>
              <a:buSzPct val="100000"/>
              <a:buChar char="•"/>
            </a:pPr>
            <a:r>
              <a:rPr lang="en-US" sz="1500" dirty="0">
                <a:solidFill>
                  <a:schemeClr val="tx1"/>
                </a:solidFill>
              </a:rPr>
              <a:t>Are people comfortable speaking to Spud in public?</a:t>
            </a:r>
            <a:endParaRPr lang="en-US" sz="1500" dirty="0"/>
          </a:p>
          <a:p>
            <a:pPr marL="342900" indent="-342900">
              <a:spcAft>
                <a:spcPts val="800"/>
              </a:spcAft>
              <a:buSzPct val="100000"/>
              <a:buChar char="•"/>
            </a:pPr>
            <a:r>
              <a:rPr lang="en-US" sz="1500" dirty="0">
                <a:solidFill>
                  <a:schemeClr val="tx1"/>
                </a:solidFill>
              </a:rPr>
              <a:t>Do bilingual reviewers agree the AI kept the meaning?</a:t>
            </a:r>
            <a:endParaRPr lang="en-US" sz="1500" dirty="0"/>
          </a:p>
          <a:p>
            <a:pPr marL="342900" indent="-342900">
              <a:spcAft>
                <a:spcPts val="800"/>
              </a:spcAft>
              <a:buSzPct val="100000"/>
              <a:buChar char="•"/>
            </a:pPr>
            <a:r>
              <a:rPr lang="en-US" sz="1500" dirty="0">
                <a:solidFill>
                  <a:schemeClr val="tx1"/>
                </a:solidFill>
              </a:rPr>
              <a:t>Do users understand that tracking is optional?</a:t>
            </a:r>
            <a:endParaRPr lang="en-US" sz="1500" dirty="0"/>
          </a:p>
          <a:p>
            <a:pPr marL="342900" indent="-342900">
              <a:spcAft>
                <a:spcPts val="800"/>
              </a:spcAft>
              <a:buSzPct val="100000"/>
              <a:buChar char="•"/>
            </a:pPr>
            <a:r>
              <a:rPr lang="en-US" sz="1500" dirty="0">
                <a:solidFill>
                  <a:schemeClr val="tx1"/>
                </a:solidFill>
              </a:rPr>
              <a:t>Do badges bring people back, or only encourage tapping?</a:t>
            </a:r>
            <a:endParaRPr lang="en-US" sz="1500" dirty="0"/>
          </a:p>
          <a:p>
            <a:pPr marL="342900" indent="-342900">
              <a:spcAft>
                <a:spcPts val="800"/>
              </a:spcAft>
              <a:buSzPct val="100000"/>
              <a:buChar char="•"/>
            </a:pPr>
            <a:r>
              <a:rPr lang="en-US" sz="1500" dirty="0">
                <a:solidFill>
                  <a:schemeClr val="tx1"/>
                </a:solidFill>
              </a:rPr>
              <a:t>Do the tracker stages match real council processes? (council staff)</a:t>
            </a:r>
            <a:endParaRPr lang="en-US" sz="1500" dirty="0"/>
          </a:p>
        </p:txBody>
      </p:sp>
      <p:sp>
        <p:nvSpPr>
          <p:cNvPr id="25" name="Slide Number Placeholder 0"/>
          <p:cNvSpPr>
            <a:spLocks noGrp="1"/>
          </p:cNvSpPr>
          <p:nvPr>
            <p:ph type="sldNum" sz="quarter" idx="4294967295"/>
          </p:nvPr>
        </p:nvSpPr>
        <p:spPr>
          <a:xfrm>
            <a:off x="1124712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39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1005840"/>
            <a:ext cx="6400800" cy="1188720"/>
          </a:xfrm>
          <a:prstGeom prst="rect">
            <a:avLst/>
          </a:prstGeom>
          <a:noFill/>
          <a:ln/>
        </p:spPr>
        <p:txBody>
          <a:bodyPr wrap="square" lIns="0" tIns="0" rIns="0" bIns="0" rtlCol="0" anchor="ctr"/>
          <a:lstStyle/>
          <a:p>
            <a:pPr indent="0" marL="0">
              <a:buNone/>
            </a:pPr>
            <a:r>
              <a:rPr lang="en-US" sz="8000" b="1" dirty="0">
                <a:solidFill>
                  <a:schemeClr val="bg1"/>
                </a:solidFill>
              </a:rPr>
              <a:t>Hear</a:t>
            </a:r>
            <a:pPr indent="0" marL="0">
              <a:buNone/>
            </a:pPr>
            <a:r>
              <a:rPr lang="en-US" sz="8000" b="1" dirty="0">
                <a:solidFill>
                  <a:srgbClr val="F28C28"/>
                </a:solidFill>
              </a:rPr>
              <a:t>Here</a:t>
            </a:r>
            <a:endParaRPr lang="en-US" sz="8000" dirty="0"/>
          </a:p>
        </p:txBody>
      </p:sp>
      <p:sp>
        <p:nvSpPr>
          <p:cNvPr id="3" name="Text 1"/>
          <p:cNvSpPr txBox="1"/>
          <p:nvPr/>
        </p:nvSpPr>
        <p:spPr>
          <a:xfrm>
            <a:off x="731520" y="2240280"/>
            <a:ext cx="6400800" cy="457200"/>
          </a:xfrm>
          <a:prstGeom prst="rect">
            <a:avLst/>
          </a:prstGeom>
          <a:noFill/>
          <a:ln/>
        </p:spPr>
        <p:txBody>
          <a:bodyPr wrap="square" lIns="0" tIns="0" rIns="0" bIns="0" rtlCol="0" anchor="t"/>
          <a:lstStyle/>
          <a:p>
            <a:pPr indent="0" marL="0">
              <a:buNone/>
            </a:pPr>
            <a:r>
              <a:rPr lang="en-US" sz="2000" dirty="0">
                <a:solidFill>
                  <a:srgbClr val="E9E1F2"/>
                </a:solidFill>
              </a:rPr>
              <a:t>with Spud: Street Post for Understanding Decisions</a:t>
            </a:r>
            <a:endParaRPr lang="en-US" sz="2000" dirty="0"/>
          </a:p>
        </p:txBody>
      </p:sp>
      <p:sp>
        <p:nvSpPr>
          <p:cNvPr id="4" name="closing tagline pill"/>
          <p:cNvSpPr/>
          <p:nvPr/>
        </p:nvSpPr>
        <p:spPr>
          <a:xfrm>
            <a:off x="731520" y="3017520"/>
            <a:ext cx="4572000" cy="685800"/>
          </a:xfrm>
          <a:prstGeom prst="roundRect">
            <a:avLst>
              <a:gd name="adj" fmla="val 49333"/>
            </a:avLst>
          </a:prstGeom>
          <a:solidFill>
            <a:srgbClr val="F28C28"/>
          </a:solidFill>
          <a:ln w="12700">
            <a:solidFill>
              <a:srgbClr val="F28C28"/>
            </a:solidFill>
            <a:prstDash val="solid"/>
          </a:ln>
        </p:spPr>
      </p:sp>
      <p:sp>
        <p:nvSpPr>
          <p:cNvPr id="5" name="Text 3"/>
          <p:cNvSpPr txBox="1"/>
          <p:nvPr/>
        </p:nvSpPr>
        <p:spPr>
          <a:xfrm>
            <a:off x="731520" y="3017520"/>
            <a:ext cx="4572000" cy="685800"/>
          </a:xfrm>
          <a:prstGeom prst="rect">
            <a:avLst/>
          </a:prstGeom>
          <a:noFill/>
          <a:ln/>
        </p:spPr>
        <p:txBody>
          <a:bodyPr wrap="square" lIns="0" tIns="0" rIns="0" bIns="0" rtlCol="0" anchor="ctr"/>
          <a:lstStyle/>
          <a:p>
            <a:pPr algn="ctr" indent="0" marL="0">
              <a:buNone/>
            </a:pPr>
            <a:r>
              <a:rPr lang="en-US" sz="2800" b="1" dirty="0">
                <a:solidFill>
                  <a:schemeClr val="bg1"/>
                </a:solidFill>
              </a:rPr>
              <a:t>Speak here. Be heard.</a:t>
            </a:r>
            <a:endParaRPr lang="en-US" sz="2800" dirty="0"/>
          </a:p>
        </p:txBody>
      </p:sp>
      <p:sp>
        <p:nvSpPr>
          <p:cNvPr id="6" name="Text 4"/>
          <p:cNvSpPr txBox="1"/>
          <p:nvPr/>
        </p:nvSpPr>
        <p:spPr>
          <a:xfrm>
            <a:off x="731520" y="4114800"/>
            <a:ext cx="6400800" cy="411480"/>
          </a:xfrm>
          <a:prstGeom prst="rect">
            <a:avLst/>
          </a:prstGeom>
          <a:noFill/>
          <a:ln/>
        </p:spPr>
        <p:txBody>
          <a:bodyPr wrap="square" lIns="0" tIns="0" rIns="0" bIns="0" rtlCol="0" anchor="t"/>
          <a:lstStyle/>
          <a:p>
            <a:pPr indent="0" marL="0">
              <a:buNone/>
            </a:pPr>
            <a:r>
              <a:rPr lang="en-US" sz="1600" b="1" dirty="0">
                <a:solidFill>
                  <a:srgbClr val="F28C28"/>
                </a:solidFill>
              </a:rPr>
              <a:t>Concept video: </a:t>
            </a:r>
            <a:pPr indent="0" marL="0">
              <a:buNone/>
            </a:pPr>
            <a:r>
              <a:rPr lang="en-US" sz="1600" dirty="0">
                <a:solidFill>
                  <a:srgbClr val="E9E1F2"/>
                </a:solidFill>
              </a:rPr>
              <a:t>[add video link]</a:t>
            </a:r>
            <a:endParaRPr lang="en-US" sz="1600" dirty="0"/>
          </a:p>
        </p:txBody>
      </p:sp>
      <p:sp>
        <p:nvSpPr>
          <p:cNvPr id="7" name="Text 5"/>
          <p:cNvSpPr txBox="1"/>
          <p:nvPr/>
        </p:nvSpPr>
        <p:spPr>
          <a:xfrm>
            <a:off x="731520" y="4846320"/>
            <a:ext cx="6583680" cy="777240"/>
          </a:xfrm>
          <a:prstGeom prst="rect">
            <a:avLst/>
          </a:prstGeom>
          <a:noFill/>
          <a:ln/>
        </p:spPr>
        <p:txBody>
          <a:bodyPr wrap="square" lIns="0" tIns="0" rIns="0" bIns="0" rtlCol="0" anchor="t"/>
          <a:lstStyle/>
          <a:p>
            <a:pPr indent="0" marL="0">
              <a:buNone/>
            </a:pPr>
            <a:r>
              <a:rPr lang="en-US" sz="1500" dirty="0">
                <a:solidFill>
                  <a:srgbClr val="B9AECB"/>
                </a:solidFill>
              </a:rPr>
              <a:t>Jia-Ying Lee 1790130   ·   Xintong Fu 1840227</a:t>
            </a:r>
            <a:endParaRPr lang="en-US" sz="1500" dirty="0"/>
          </a:p>
          <a:p>
            <a:pPr indent="0" marL="0">
              <a:buNone/>
            </a:pPr>
            <a:r>
              <a:rPr lang="en-US" sz="1500" dirty="0">
                <a:solidFill>
                  <a:srgbClr val="B9AECB"/>
                </a:solidFill>
              </a:rPr>
              <a:t>Yu-Hao Lu 1781474   ·   Yen-Chu Ou Yang 1801365</a:t>
            </a:r>
            <a:endParaRPr lang="en-US" sz="1500" dirty="0"/>
          </a:p>
        </p:txBody>
      </p:sp>
      <p:sp>
        <p:nvSpPr>
          <p:cNvPr id="8" name="Text 6"/>
          <p:cNvSpPr txBox="1"/>
          <p:nvPr/>
        </p:nvSpPr>
        <p:spPr>
          <a:xfrm>
            <a:off x="731520" y="5989320"/>
            <a:ext cx="6583680" cy="365760"/>
          </a:xfrm>
          <a:prstGeom prst="rect">
            <a:avLst/>
          </a:prstGeom>
          <a:noFill/>
          <a:ln/>
        </p:spPr>
        <p:txBody>
          <a:bodyPr wrap="square" lIns="0" tIns="0" rIns="0" bIns="0" rtlCol="0" anchor="t"/>
          <a:lstStyle/>
          <a:p>
            <a:pPr indent="0" marL="0">
              <a:buNone/>
            </a:pPr>
            <a:r>
              <a:rPr lang="en-US" sz="1100" dirty="0">
                <a:solidFill>
                  <a:srgbClr val="9C92B0"/>
                </a:solidFill>
              </a:rPr>
              <a:t>The scenario and park rule are fictional examples. Narration in the video is AI-generated.</a:t>
            </a:r>
            <a:endParaRPr lang="en-US" sz="1100" dirty="0"/>
          </a:p>
        </p:txBody>
      </p:sp>
      <p:pic>
        <p:nvPicPr>
          <p:cNvPr id="9" name="Jason waving to Spud" descr="Jason waving to Spud">    </p:cNvPr>
          <p:cNvPicPr>
            <a:picLocks noChangeAspect="1"/>
          </p:cNvPicPr>
          <p:nvPr/>
        </p:nvPicPr>
        <p:blipFill>
          <a:blip r:embed="rId1"/>
          <a:stretch>
            <a:fillRect/>
          </a:stretch>
        </p:blipFill>
        <p:spPr>
          <a:xfrm>
            <a:off x="7223760" y="2024149"/>
            <a:ext cx="4572000" cy="2992582"/>
          </a:xfrm>
          <a:prstGeom prst="rect">
            <a:avLst/>
          </a:prstGeom>
        </p:spPr>
      </p:pic>
    </p:spTree>
  </p:cSld>
  <p:clrMapOvr>
    <a:masterClrMapping/>
  </p:clrMapOvr>
</p:sld>
</file>

<file path=ppt/theme/theme1.xml><?xml version="1.0" encoding="utf-8"?>
<a:theme xmlns:a="http://schemas.openxmlformats.org/drawingml/2006/main" name="HearHere">
  <a:themeElements>
    <a:clrScheme name="HearHere">
      <a:dk1>
        <a:srgbClr val="241A33"/>
      </a:dk1>
      <a:lt1>
        <a:srgbClr val="FFFFFF"/>
      </a:lt1>
      <a:dk2>
        <a:srgbClr val="2E1F45"/>
      </a:dk2>
      <a:lt2>
        <a:srgbClr val="F4EEF8"/>
      </a:lt2>
      <a:accent1>
        <a:srgbClr val="7B4B94"/>
      </a:accent1>
      <a:accent2>
        <a:srgbClr val="F28C28"/>
      </a:accent2>
      <a:accent3>
        <a:srgbClr val="16707F"/>
      </a:accent3>
      <a:accent4>
        <a:srgbClr val="E0544B"/>
      </a:accent4>
      <a:accent5>
        <a:srgbClr val="3A63D1"/>
      </a:accent5>
      <a:accent6>
        <a:srgbClr val="9C6DB8"/>
      </a:accent6>
      <a:hlink>
        <a:srgbClr val="3A63D1"/>
      </a:hlink>
      <a:folHlink>
        <a:srgbClr val="7B4B94"/>
      </a:folHlink>
    </a:clrScheme>
    <a:fontScheme name="HearHe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HearHere: Speak here. Be heard.</dc:title>
  <dc:subject>PptxGenJS Presentation</dc:subject>
  <dc:creator>Team Sweet Potatoes (Group 14)</dc:creator>
  <cp:lastModifiedBy>Team Sweet Potatoes (Group 14)</cp:lastModifiedBy>
  <cp:revision>1</cp:revision>
  <dcterms:created xsi:type="dcterms:W3CDTF">2026-10-13T07:22:52Z</dcterms:created>
  <dcterms:modified xsi:type="dcterms:W3CDTF">2026-10-13T07:22:52Z</dcterms:modified>
</cp:coreProperties>
</file>